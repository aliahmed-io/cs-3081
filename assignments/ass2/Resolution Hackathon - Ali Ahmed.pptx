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Space Grotesk" pitchFamily="34" charset="0"/>
      <p:regular r:id="rId19"/>
      <p:bold r:id="rId20"/>
    </p:embeddedFon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course. Today we walk through the Resolution Hackathon: a mystery about a missing exam paper that we solved using propositional logic and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an exam paper disappeared, three suspects, and seven clues from campus security. Our job was not to guess, but to prove each conclusion formally using resolution, working in rotating roles: Converter, Resolver and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clue becomes a propositional sentence. D = door unlocked, S/O/L = Sara/Omar/Lina took it, C = camera off, F = door forced, Y = Lina had a key copy, K = Khalid lent his key, A = alarm rang. Together these seven sentences are our knowledge base, the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Resolution only works on CNF: a conjunction of clauses, each clause an OR of literals. We passed the sheet around, each person writing one step and the rule used. Clue 1 needed only arrow elimination, clue 7 only De Morgan, clue 3 needed three moves, and clue 6 needed biconditional then arrow elimination.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numbered list is the knowledge base in CNF. Every proof in Level 03 cites these numbers, so getting them right here mattered. Clues 3 and 6 each produced two clauses, which is why seven clues give nine clauses.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had exactly one partner sharing a complementary literal. Two pairs left a duplicate literal, so we applied factoring to remove it: pairs 1 and 5. Pair 4 is the only real empty clause. Pair 6 is highlighted because it is the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pair looks like it should give the empty clause because both G and H appear with opposite signs. But resolution removes exactly one complementary pair per step. Whichever literal you resolve on, the other pair survives as a tautology, which tells us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door was unlocked, so Sara or Omar did it. If Omar didn't, Sara must have. But if Sara did it, the camera would have been off, and it wasn't, so Sara didn't. Sara and not-Sara is a contradiction, so our assumption that Omar is innocent must be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proofs have the same shape: clue 3 says Sara taking it, or a forced door, would mean the camera was off, and clue 4 says the camera was on. So both S and F lead straight to a contradiction. The side quest earned us +3 XP.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Omar said Lina helped him; Lina said she's innocent. We tried both directions. L appears only once in the KB, as ¬L in K6, so assuming ¬L gives resolution nothing to cancel. Assuming L just produces a chain that ends at ¬A. Neither reaches the empty clause, so the KB simply doesn't decide L: there are valid worlds where Lina did it and valid worlds where she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case. Omar is proven guilty, Sara proven innocent, the door proven not forced, and Lina's involvement is undecidable from this evidence, which is a valid answer in its own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Resolution proves things by refuting their negation. If no empty clause can ever be produced, the goal is not entailed. Each step resolves on only one literal, which is exactly what the Level 02 trap tested. And the Lina case showed that a knowledge base can leave a question open; in a real investigation, that is an honest and important answer. Thank the mentor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3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B233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3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B233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CS3081 · ARTIFICIAL INTELLIGENCE · DR. NAILA MARIR</a:t>
            </a:r>
            <a:endParaRPr lang="en-US" sz="1200" dirty="0"/>
          </a:p>
        </p:txBody>
      </p:sp>
      <p:sp>
        <p:nvSpPr>
          <p:cNvPr id="3" name="Text 1"/>
          <p:cNvSpPr/>
          <p:nvPr/>
        </p:nvSpPr>
        <p:spPr>
          <a:xfrm>
            <a:off x="812800" y="222885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8913A"/>
                </a:solidFill>
                <a:latin typeface="JetBrains Mono" pitchFamily="49" charset="0"/>
                <a:ea typeface="JetBrains Mono" pitchFamily="49" charset="-122"/>
                <a:cs typeface="JetBrains Mono" pitchFamily="49" charset="-120"/>
              </a:rPr>
              <a:t>&gt; case_file: the_missing_exam_paper</a:t>
            </a:r>
            <a:endParaRPr lang="en-US" sz="1800" dirty="0"/>
          </a:p>
        </p:txBody>
      </p:sp>
      <p:sp>
        <p:nvSpPr>
          <p:cNvPr id="4" name="Text 2"/>
          <p:cNvSpPr/>
          <p:nvPr>
            <p:ph type="title"/>
          </p:nvPr>
        </p:nvSpPr>
        <p:spPr>
          <a:xfrm>
            <a:off x="812800" y="2726690"/>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i="0" dirty="0">
                <a:solidFill>
                  <a:srgbClr val="EEF1F6"/>
                </a:solidFill>
                <a:latin typeface="Space Grotesk" pitchFamily="34" charset="0"/>
                <a:ea typeface="Space Grotesk" pitchFamily="34" charset="-122"/>
                <a:cs typeface="Space Grotesk" pitchFamily="34" charset="-120"/>
              </a:rPr>
              <a:t>Resolution Hackathon</a:t>
            </a:r>
            <a:endParaRPr lang="en-US" sz="7200" dirty="0"/>
          </a:p>
        </p:txBody>
      </p:sp>
      <p:sp>
        <p:nvSpPr>
          <p:cNvPr id="5" name="Text 3"/>
          <p:cNvSpPr/>
          <p:nvPr/>
        </p:nvSpPr>
        <p:spPr>
          <a:xfrm>
            <a:off x="812800" y="381889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9C2D3"/>
                </a:solidFill>
                <a:latin typeface="Space Grotesk" pitchFamily="34" charset="0"/>
                <a:ea typeface="Space Grotesk" pitchFamily="34" charset="-122"/>
                <a:cs typeface="Space Grotesk" pitchFamily="34" charset="-120"/>
              </a:rPr>
              <a:t>Propositional logic · CNF · resolution · proof by contradiction</a:t>
            </a:r>
            <a:endParaRPr lang="en-US" sz="1800" dirty="0"/>
          </a:p>
        </p:txBody>
      </p:sp>
      <p:sp>
        <p:nvSpPr>
          <p:cNvPr id="6" name="Text 4"/>
          <p:cNvSpPr/>
          <p:nvPr/>
        </p:nvSpPr>
        <p:spPr>
          <a:xfrm>
            <a:off x="812800" y="5318760"/>
            <a:ext cx="1915160" cy="523240"/>
          </a:xfrm>
          <a:prstGeom prst="roundRect">
            <a:avLst>
              <a:gd name="adj" fmla="val 14563"/>
            </a:avLst>
          </a:prstGeom>
          <a:solidFill>
            <a:srgbClr val="1FB6C9"/>
          </a:solidFill>
          <a:ln/>
        </p:spPr>
        <p:txBody>
          <a:bodyPr wrap="none" lIns="0" tIns="0" rIns="0" bIns="0" rtlCol="0" anchor="ctr">
            <a:normAutofit/>
          </a:bodyPr>
          <a:lstStyle/>
          <a:p>
            <a:pPr algn="ctr" indent="0" marL="0">
              <a:lnSpc>
                <a:spcPts val="2520"/>
              </a:lnSpc>
              <a:buNone/>
            </a:pPr>
            <a:r>
              <a:rPr lang="en-US" sz="1800" b="1" dirty="0">
                <a:solidFill>
                  <a:srgbClr val="0E1526"/>
                </a:solidFill>
                <a:latin typeface="JetBrains Mono" pitchFamily="49" charset="0"/>
                <a:ea typeface="JetBrains Mono" pitchFamily="49" charset="-122"/>
                <a:cs typeface="JetBrains Mono" pitchFamily="49" charset="-120"/>
              </a:rPr>
              <a:t>ALI AHMED</a:t>
            </a:r>
            <a:endParaRPr lang="en-US" sz="1800" dirty="0"/>
          </a:p>
        </p:txBody>
      </p:sp>
      <p:sp>
        <p:nvSpPr>
          <p:cNvPr id="7" name="Text 5"/>
          <p:cNvSpPr/>
          <p:nvPr/>
        </p:nvSpPr>
        <p:spPr>
          <a:xfrm>
            <a:off x="3032760" y="5420360"/>
            <a:ext cx="5093398"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EF1F6"/>
                </a:solidFill>
                <a:latin typeface="Space Grotesk" pitchFamily="34" charset="0"/>
                <a:ea typeface="Space Grotesk" pitchFamily="34" charset="-122"/>
                <a:cs typeface="Space Grotesk" pitchFamily="34" charset="-120"/>
              </a:rPr>
              <a:t>Ali Ahmed (ID: S24109004)</a:t>
            </a:r>
            <a:endParaRPr lang="en-US" sz="1800" dirty="0"/>
          </a:p>
        </p:txBody>
      </p:sp>
      <p:sp>
        <p:nvSpPr>
          <p:cNvPr id="8" name="Text 6"/>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8"/>
                </a:solidFill>
                <a:latin typeface="JetBrains Mono" pitchFamily="49" charset="0"/>
                <a:ea typeface="JetBrains Mono" pitchFamily="49" charset="-122"/>
                <a:cs typeface="JetBrains Mono" pitchFamily="49" charset="-120"/>
              </a:rPr>
              <a:t>Effat University · College of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THE HACKATHON</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The final exam paper went missing</a:t>
            </a:r>
            <a:endParaRPr lang="en-US" sz="3600" dirty="0"/>
          </a:p>
        </p:txBody>
      </p:sp>
      <p:sp>
        <p:nvSpPr>
          <p:cNvPr id="4" name="Text 2"/>
          <p:cNvSpPr/>
          <p:nvPr/>
        </p:nvSpPr>
        <p:spPr>
          <a:xfrm>
            <a:off x="812800" y="1732280"/>
            <a:ext cx="11379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468"/>
                </a:solidFill>
                <a:latin typeface="Space Grotesk" pitchFamily="34" charset="0"/>
                <a:ea typeface="Space Grotesk" pitchFamily="34" charset="-122"/>
                <a:cs typeface="Space Grotesk" pitchFamily="34" charset="-120"/>
              </a:rPr>
              <a:t>Monday 08:00: the CS3081 exam paper is gone. Three students were seen near the office on Sunday night.</a:t>
            </a:r>
            <a:endParaRPr lang="en-US" sz="1600" dirty="0"/>
          </a:p>
        </p:txBody>
      </p:sp>
      <p:sp>
        <p:nvSpPr>
          <p:cNvPr id="5" name="Shape 3"/>
          <p:cNvSpPr/>
          <p:nvPr/>
        </p:nvSpPr>
        <p:spPr>
          <a:xfrm>
            <a:off x="819150" y="2713990"/>
            <a:ext cx="3373914" cy="1242060"/>
          </a:xfrm>
          <a:prstGeom prst="roundRect">
            <a:avLst>
              <a:gd name="adj" fmla="val 7669"/>
            </a:avLst>
          </a:prstGeom>
          <a:solidFill>
            <a:srgbClr val="FFFFFF"/>
          </a:solidFill>
          <a:ln w="12700">
            <a:solidFill>
              <a:srgbClr val="DCD8CC"/>
            </a:solidFill>
            <a:prstDash val="solid"/>
          </a:ln>
        </p:spPr>
      </p:sp>
      <p:sp>
        <p:nvSpPr>
          <p:cNvPr id="6" name="Text 4"/>
          <p:cNvSpPr/>
          <p:nvPr/>
        </p:nvSpPr>
        <p:spPr>
          <a:xfrm>
            <a:off x="1076960" y="2971800"/>
            <a:ext cx="29440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SUSPECT · S</a:t>
            </a:r>
            <a:endParaRPr lang="en-US" sz="1400" dirty="0"/>
          </a:p>
        </p:txBody>
      </p:sp>
      <p:sp>
        <p:nvSpPr>
          <p:cNvPr id="7" name="Text 5"/>
          <p:cNvSpPr/>
          <p:nvPr/>
        </p:nvSpPr>
        <p:spPr>
          <a:xfrm>
            <a:off x="1076960" y="3271520"/>
            <a:ext cx="2944043"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Sara</a:t>
            </a:r>
            <a:endParaRPr lang="en-US" sz="2800" dirty="0"/>
          </a:p>
        </p:txBody>
      </p:sp>
      <p:sp>
        <p:nvSpPr>
          <p:cNvPr id="8" name="Shape 6"/>
          <p:cNvSpPr/>
          <p:nvPr/>
        </p:nvSpPr>
        <p:spPr>
          <a:xfrm>
            <a:off x="4408964" y="2713990"/>
            <a:ext cx="3373993" cy="1242060"/>
          </a:xfrm>
          <a:prstGeom prst="roundRect">
            <a:avLst>
              <a:gd name="adj" fmla="val 7669"/>
            </a:avLst>
          </a:prstGeom>
          <a:solidFill>
            <a:srgbClr val="FFFFFF"/>
          </a:solidFill>
          <a:ln w="12700">
            <a:solidFill>
              <a:srgbClr val="DCD8CC"/>
            </a:solidFill>
            <a:prstDash val="solid"/>
          </a:ln>
        </p:spPr>
      </p:sp>
      <p:sp>
        <p:nvSpPr>
          <p:cNvPr id="9" name="Text 7"/>
          <p:cNvSpPr/>
          <p:nvPr/>
        </p:nvSpPr>
        <p:spPr>
          <a:xfrm>
            <a:off x="4666774" y="2971800"/>
            <a:ext cx="29441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SUSPECT · O</a:t>
            </a:r>
            <a:endParaRPr lang="en-US" sz="1400" dirty="0"/>
          </a:p>
        </p:txBody>
      </p:sp>
      <p:sp>
        <p:nvSpPr>
          <p:cNvPr id="10" name="Text 8"/>
          <p:cNvSpPr/>
          <p:nvPr/>
        </p:nvSpPr>
        <p:spPr>
          <a:xfrm>
            <a:off x="4666774" y="3271520"/>
            <a:ext cx="2944124"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Omar</a:t>
            </a:r>
            <a:endParaRPr lang="en-US" sz="2800" dirty="0"/>
          </a:p>
        </p:txBody>
      </p:sp>
      <p:sp>
        <p:nvSpPr>
          <p:cNvPr id="11" name="Shape 9"/>
          <p:cNvSpPr/>
          <p:nvPr/>
        </p:nvSpPr>
        <p:spPr>
          <a:xfrm>
            <a:off x="7998857" y="2713990"/>
            <a:ext cx="3373993" cy="1242060"/>
          </a:xfrm>
          <a:prstGeom prst="roundRect">
            <a:avLst>
              <a:gd name="adj" fmla="val 7669"/>
            </a:avLst>
          </a:prstGeom>
          <a:solidFill>
            <a:srgbClr val="FFFFFF"/>
          </a:solidFill>
          <a:ln w="12700">
            <a:solidFill>
              <a:srgbClr val="DCD8CC"/>
            </a:solidFill>
            <a:prstDash val="solid"/>
          </a:ln>
        </p:spPr>
      </p:sp>
      <p:sp>
        <p:nvSpPr>
          <p:cNvPr id="12" name="Text 10"/>
          <p:cNvSpPr/>
          <p:nvPr/>
        </p:nvSpPr>
        <p:spPr>
          <a:xfrm>
            <a:off x="8256667" y="2971800"/>
            <a:ext cx="29441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SUSPECT · L</a:t>
            </a:r>
            <a:endParaRPr lang="en-US" sz="1400" dirty="0"/>
          </a:p>
        </p:txBody>
      </p:sp>
      <p:sp>
        <p:nvSpPr>
          <p:cNvPr id="13" name="Text 11"/>
          <p:cNvSpPr/>
          <p:nvPr/>
        </p:nvSpPr>
        <p:spPr>
          <a:xfrm>
            <a:off x="8256667" y="3271520"/>
            <a:ext cx="2944124"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Lina</a:t>
            </a:r>
            <a:endParaRPr lang="en-US" sz="2800" dirty="0"/>
          </a:p>
        </p:txBody>
      </p:sp>
      <p:sp>
        <p:nvSpPr>
          <p:cNvPr id="14" name="Shape 12"/>
          <p:cNvSpPr/>
          <p:nvPr/>
        </p:nvSpPr>
        <p:spPr>
          <a:xfrm>
            <a:off x="812800" y="4653280"/>
            <a:ext cx="10566400" cy="1391920"/>
          </a:xfrm>
          <a:prstGeom prst="roundRect">
            <a:avLst>
              <a:gd name="adj" fmla="val 7299"/>
            </a:avLst>
          </a:prstGeom>
          <a:solidFill>
            <a:srgbClr val="0E1526"/>
          </a:solidFill>
          <a:ln/>
        </p:spPr>
      </p:sp>
      <p:sp>
        <p:nvSpPr>
          <p:cNvPr id="15" name="Text 13"/>
          <p:cNvSpPr/>
          <p:nvPr/>
        </p:nvSpPr>
        <p:spPr>
          <a:xfrm>
            <a:off x="1117600" y="4907280"/>
            <a:ext cx="102555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B6C9"/>
                </a:solidFill>
                <a:latin typeface="JetBrains Mono" pitchFamily="49" charset="0"/>
                <a:ea typeface="JetBrains Mono" pitchFamily="49" charset="-122"/>
                <a:cs typeface="JetBrains Mono" pitchFamily="49" charset="-120"/>
              </a:rPr>
              <a:t>MISSION · 7 clues · 4 levels · 50 minutes</a:t>
            </a:r>
            <a:endParaRPr lang="en-US" sz="1200" dirty="0"/>
          </a:p>
        </p:txBody>
      </p:sp>
      <p:sp>
        <p:nvSpPr>
          <p:cNvPr id="16" name="Text 14"/>
          <p:cNvSpPr/>
          <p:nvPr/>
        </p:nvSpPr>
        <p:spPr>
          <a:xfrm>
            <a:off x="1117600" y="5196840"/>
            <a:ext cx="10255504" cy="6197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EF1F6"/>
                </a:solidFill>
                <a:latin typeface="Space Grotesk" pitchFamily="34" charset="0"/>
                <a:ea typeface="Space Grotesk" pitchFamily="34" charset="-122"/>
                <a:cs typeface="Space Grotesk" pitchFamily="34" charset="-120"/>
              </a:rPr>
              <a:t>Use resolution to find who took it, who is innocent, and which accusation cannot be proven.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11138"/>
          </a:xfrm>
          <a:prstGeom prst="rect">
            <a:avLst/>
          </a:prstGeom>
          <a:noFill/>
          <a:ln/>
        </p:spPr>
        <p:txBody>
          <a:bodyPr wrap="square" lIns="0" tIns="0" rIns="0" bIns="0" rtlCol="0" anchor="t">
            <a:normAutofit/>
          </a:bodyPr>
          <a:lstStyle/>
          <a:p>
            <a:pPr algn="l" indent="0" marL="0">
              <a:lnSpc>
                <a:spcPts val="1470"/>
              </a:lnSpc>
              <a:buNone/>
            </a:pPr>
            <a:r>
              <a:rPr lang="en-US" sz="1050" spc="100" kern="0" dirty="0">
                <a:solidFill>
                  <a:srgbClr val="A85A14"/>
                </a:solidFill>
                <a:latin typeface="JetBrains Mono" pitchFamily="49" charset="0"/>
                <a:ea typeface="JetBrains Mono" pitchFamily="49" charset="-122"/>
                <a:cs typeface="JetBrains Mono" pitchFamily="49" charset="-120"/>
              </a:rPr>
              <a:t>THE EVIDENCE</a:t>
            </a:r>
            <a:endParaRPr lang="en-US" sz="1050" dirty="0"/>
          </a:p>
        </p:txBody>
      </p:sp>
      <p:sp>
        <p:nvSpPr>
          <p:cNvPr id="3" name="Text 1"/>
          <p:cNvSpPr/>
          <p:nvPr>
            <p:ph type="title"/>
          </p:nvPr>
        </p:nvSpPr>
        <p:spPr>
          <a:xfrm>
            <a:off x="812800" y="1100138"/>
            <a:ext cx="10883392" cy="463233"/>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333"/>
                </a:solidFill>
                <a:latin typeface="Space Grotesk" pitchFamily="34" charset="0"/>
                <a:ea typeface="Space Grotesk" pitchFamily="34" charset="-122"/>
                <a:cs typeface="Space Grotesk" pitchFamily="34" charset="-120"/>
              </a:rPr>
              <a:t>Seven clues, written as logic</a:t>
            </a:r>
            <a:endParaRPr lang="en-US" sz="3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02130"/>
          <a:ext cx="10556240" cy="4243070"/>
        </p:xfrm>
        <a:graphic>
          <a:graphicData uri="http://schemas.openxmlformats.org/drawingml/2006/table">
            <a:tbl>
              <a:tblPr/>
              <a:tblGrid>
                <a:gridCol w="3518747"/>
                <a:gridCol w="3518747"/>
                <a:gridCol w="3518747"/>
              </a:tblGrid>
              <a:tr h="372824">
                <a:tc>
                  <a:txBody>
                    <a:bodyPr/>
                    <a:lstStyle/>
                    <a:p>
                      <a:pPr indent="0" marL="0">
                        <a:lnSpc>
                          <a:spcPts val="1654"/>
                        </a:lnSpc>
                        <a:buNone/>
                      </a:pPr>
                      <a:r>
                        <a:rPr lang="en-US" sz="1181" b="1" dirty="0">
                          <a:solidFill>
                            <a:srgbClr val="1FB6C9"/>
                          </a:solidFill>
                          <a:latin typeface="Space Grotesk" pitchFamily="34" charset="0"/>
                          <a:ea typeface="Space Grotesk" pitchFamily="34" charset="-122"/>
                          <a:cs typeface="Space Grotesk" pitchFamily="34" charset="-120"/>
                        </a:rPr>
                        <a:t>#</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654"/>
                        </a:lnSpc>
                        <a:buNone/>
                      </a:pPr>
                      <a:r>
                        <a:rPr lang="en-US" sz="1181" b="1" dirty="0">
                          <a:solidFill>
                            <a:srgbClr val="1FB6C9"/>
                          </a:solidFill>
                          <a:latin typeface="Space Grotesk" pitchFamily="34" charset="0"/>
                          <a:ea typeface="Space Grotesk" pitchFamily="34" charset="-122"/>
                          <a:cs typeface="Space Grotesk" pitchFamily="34" charset="-120"/>
                        </a:rPr>
                        <a:t>CLUE</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654"/>
                        </a:lnSpc>
                        <a:buNone/>
                      </a:pPr>
                      <a:r>
                        <a:rPr lang="en-US" sz="1181" b="1" dirty="0">
                          <a:solidFill>
                            <a:srgbClr val="1FB6C9"/>
                          </a:solidFill>
                          <a:latin typeface="Space Grotesk" pitchFamily="34" charset="0"/>
                          <a:ea typeface="Space Grotesk" pitchFamily="34" charset="-122"/>
                          <a:cs typeface="Space Grotesk" pitchFamily="34" charset="-120"/>
                        </a:rPr>
                        <a:t>LOGIC</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582851">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1</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If the door was unlocked, Sara or Omar took the paper</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D → (S ∨ O)</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72824">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2</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The door was unlocked</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D</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851">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3</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If Sara took it or the door was forced, the camera was off</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(S ∨ F) → C</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4</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The camera was not off (it recorded all night)</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¬C</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5</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Lina could only have taken it with a copy of the key</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L → Y</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6</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Lina had a key copy if and only if Khalid lent his key</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Y ↔ K</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7</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Not both: Khalid lent his key and the alarm rang</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¬(K ∧ A)</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01 · CNF RELAY</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Four moves turn any clue into clauses</a:t>
            </a:r>
            <a:endParaRPr lang="en-US" sz="3600" dirty="0"/>
          </a:p>
        </p:txBody>
      </p:sp>
      <p:sp>
        <p:nvSpPr>
          <p:cNvPr id="4" name="Shape 2"/>
          <p:cNvSpPr/>
          <p:nvPr/>
        </p:nvSpPr>
        <p:spPr>
          <a:xfrm>
            <a:off x="819150" y="1941830"/>
            <a:ext cx="4813300" cy="876300"/>
          </a:xfrm>
          <a:prstGeom prst="roundRect">
            <a:avLst>
              <a:gd name="adj" fmla="val 10870"/>
            </a:avLst>
          </a:prstGeom>
          <a:solidFill>
            <a:srgbClr val="FFFFFF"/>
          </a:solidFill>
          <a:ln w="12700">
            <a:solidFill>
              <a:srgbClr val="DCD8CC"/>
            </a:solidFill>
            <a:prstDash val="solid"/>
          </a:ln>
        </p:spPr>
      </p:sp>
      <p:sp>
        <p:nvSpPr>
          <p:cNvPr id="5" name="Text 3"/>
          <p:cNvSpPr/>
          <p:nvPr/>
        </p:nvSpPr>
        <p:spPr>
          <a:xfrm>
            <a:off x="1026160" y="2123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1 · Eliminate ↔</a:t>
            </a:r>
            <a:endParaRPr lang="en-US" sz="1400" dirty="0"/>
          </a:p>
        </p:txBody>
      </p:sp>
      <p:sp>
        <p:nvSpPr>
          <p:cNvPr id="6" name="Text 4"/>
          <p:cNvSpPr/>
          <p:nvPr/>
        </p:nvSpPr>
        <p:spPr>
          <a:xfrm>
            <a:off x="1026160" y="2387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(α → β) ∧ (β → α)</a:t>
            </a:r>
            <a:endParaRPr lang="en-US" sz="1400" dirty="0"/>
          </a:p>
        </p:txBody>
      </p:sp>
      <p:sp>
        <p:nvSpPr>
          <p:cNvPr id="7" name="Shape 5"/>
          <p:cNvSpPr/>
          <p:nvPr/>
        </p:nvSpPr>
        <p:spPr>
          <a:xfrm>
            <a:off x="819150" y="2957830"/>
            <a:ext cx="4813300" cy="876300"/>
          </a:xfrm>
          <a:prstGeom prst="roundRect">
            <a:avLst>
              <a:gd name="adj" fmla="val 10870"/>
            </a:avLst>
          </a:prstGeom>
          <a:solidFill>
            <a:srgbClr val="FFFFFF"/>
          </a:solidFill>
          <a:ln w="12700">
            <a:solidFill>
              <a:srgbClr val="DCD8CC"/>
            </a:solidFill>
            <a:prstDash val="solid"/>
          </a:ln>
        </p:spPr>
      </p:sp>
      <p:sp>
        <p:nvSpPr>
          <p:cNvPr id="8" name="Text 6"/>
          <p:cNvSpPr/>
          <p:nvPr/>
        </p:nvSpPr>
        <p:spPr>
          <a:xfrm>
            <a:off x="1026160" y="3139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2 · Eliminate →</a:t>
            </a:r>
            <a:endParaRPr lang="en-US" sz="1400" dirty="0"/>
          </a:p>
        </p:txBody>
      </p:sp>
      <p:sp>
        <p:nvSpPr>
          <p:cNvPr id="9" name="Text 7"/>
          <p:cNvSpPr/>
          <p:nvPr/>
        </p:nvSpPr>
        <p:spPr>
          <a:xfrm>
            <a:off x="1026160" y="3403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¬α ∨ β</a:t>
            </a:r>
            <a:endParaRPr lang="en-US" sz="1400" dirty="0"/>
          </a:p>
        </p:txBody>
      </p:sp>
      <p:sp>
        <p:nvSpPr>
          <p:cNvPr id="10" name="Shape 8"/>
          <p:cNvSpPr/>
          <p:nvPr/>
        </p:nvSpPr>
        <p:spPr>
          <a:xfrm>
            <a:off x="819150" y="3973830"/>
            <a:ext cx="4813300" cy="876300"/>
          </a:xfrm>
          <a:prstGeom prst="roundRect">
            <a:avLst>
              <a:gd name="adj" fmla="val 10870"/>
            </a:avLst>
          </a:prstGeom>
          <a:solidFill>
            <a:srgbClr val="FFFFFF"/>
          </a:solidFill>
          <a:ln w="12700">
            <a:solidFill>
              <a:srgbClr val="DCD8CC"/>
            </a:solidFill>
            <a:prstDash val="solid"/>
          </a:ln>
        </p:spPr>
      </p:sp>
      <p:sp>
        <p:nvSpPr>
          <p:cNvPr id="11" name="Text 9"/>
          <p:cNvSpPr/>
          <p:nvPr/>
        </p:nvSpPr>
        <p:spPr>
          <a:xfrm>
            <a:off x="1026160" y="4155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3 · De Morgan</a:t>
            </a:r>
            <a:endParaRPr lang="en-US" sz="1400" dirty="0"/>
          </a:p>
        </p:txBody>
      </p:sp>
      <p:sp>
        <p:nvSpPr>
          <p:cNvPr id="12" name="Text 10"/>
          <p:cNvSpPr/>
          <p:nvPr/>
        </p:nvSpPr>
        <p:spPr>
          <a:xfrm>
            <a:off x="1026160" y="4419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¬α ∧ ¬β</a:t>
            </a:r>
            <a:endParaRPr lang="en-US" sz="1400" dirty="0"/>
          </a:p>
        </p:txBody>
      </p:sp>
      <p:sp>
        <p:nvSpPr>
          <p:cNvPr id="13" name="Shape 11"/>
          <p:cNvSpPr/>
          <p:nvPr/>
        </p:nvSpPr>
        <p:spPr>
          <a:xfrm>
            <a:off x="819150" y="4989830"/>
            <a:ext cx="4813300" cy="876300"/>
          </a:xfrm>
          <a:prstGeom prst="roundRect">
            <a:avLst>
              <a:gd name="adj" fmla="val 10870"/>
            </a:avLst>
          </a:prstGeom>
          <a:solidFill>
            <a:srgbClr val="FFFFFF"/>
          </a:solidFill>
          <a:ln w="12700">
            <a:solidFill>
              <a:srgbClr val="DCD8CC"/>
            </a:solidFill>
            <a:prstDash val="solid"/>
          </a:ln>
        </p:spPr>
      </p:sp>
      <p:sp>
        <p:nvSpPr>
          <p:cNvPr id="14" name="Text 12"/>
          <p:cNvSpPr/>
          <p:nvPr/>
        </p:nvSpPr>
        <p:spPr>
          <a:xfrm>
            <a:off x="1026160" y="5171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4 · Distribution</a:t>
            </a:r>
            <a:endParaRPr lang="en-US" sz="1400" dirty="0"/>
          </a:p>
        </p:txBody>
      </p:sp>
      <p:sp>
        <p:nvSpPr>
          <p:cNvPr id="15" name="Text 13"/>
          <p:cNvSpPr/>
          <p:nvPr/>
        </p:nvSpPr>
        <p:spPr>
          <a:xfrm>
            <a:off x="1026160" y="5435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γ) ≡ (α ∨ β) ∧ (α ∨ γ)</a:t>
            </a:r>
            <a:endParaRPr lang="en-US" sz="1400" dirty="0"/>
          </a:p>
        </p:txBody>
      </p:sp>
      <p:sp>
        <p:nvSpPr>
          <p:cNvPr id="16" name="Shape 14"/>
          <p:cNvSpPr/>
          <p:nvPr/>
        </p:nvSpPr>
        <p:spPr>
          <a:xfrm>
            <a:off x="5943600" y="1935480"/>
            <a:ext cx="5435600" cy="3937000"/>
          </a:xfrm>
          <a:prstGeom prst="roundRect">
            <a:avLst>
              <a:gd name="adj" fmla="val 2581"/>
            </a:avLst>
          </a:prstGeom>
          <a:solidFill>
            <a:srgbClr val="0E1526"/>
          </a:solidFill>
          <a:ln/>
        </p:spPr>
      </p:sp>
      <p:sp>
        <p:nvSpPr>
          <p:cNvPr id="17" name="Text 15"/>
          <p:cNvSpPr/>
          <p:nvPr/>
        </p:nvSpPr>
        <p:spPr>
          <a:xfrm>
            <a:off x="6248400" y="2240280"/>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B6C9"/>
                </a:solidFill>
                <a:latin typeface="JetBrains Mono" pitchFamily="49" charset="0"/>
                <a:ea typeface="JetBrains Mono" pitchFamily="49" charset="-122"/>
                <a:cs typeface="JetBrains Mono" pitchFamily="49" charset="-120"/>
              </a:rPr>
              <a:t>WORKED EXAMPLE · CLUE 3</a:t>
            </a:r>
            <a:endParaRPr lang="en-US" sz="1200" dirty="0"/>
          </a:p>
        </p:txBody>
      </p:sp>
      <p:sp>
        <p:nvSpPr>
          <p:cNvPr id="18" name="Text 16"/>
          <p:cNvSpPr/>
          <p:nvPr/>
        </p:nvSpPr>
        <p:spPr>
          <a:xfrm>
            <a:off x="6248400" y="2631441"/>
            <a:ext cx="497078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EF1F6"/>
                </a:solidFill>
                <a:latin typeface="JetBrains Mono" pitchFamily="49" charset="0"/>
                <a:ea typeface="JetBrains Mono" pitchFamily="49" charset="-122"/>
                <a:cs typeface="JetBrains Mono" pitchFamily="49" charset="-120"/>
              </a:rPr>
              <a:t>(S ∨ F) → C</a:t>
            </a:r>
            <a:endParaRPr lang="en-US" sz="1800" dirty="0"/>
          </a:p>
        </p:txBody>
      </p:sp>
      <p:sp>
        <p:nvSpPr>
          <p:cNvPr id="19" name="Text 17"/>
          <p:cNvSpPr/>
          <p:nvPr/>
        </p:nvSpPr>
        <p:spPr>
          <a:xfrm>
            <a:off x="6248400" y="3129280"/>
            <a:ext cx="49707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6"/>
                </a:solidFill>
                <a:latin typeface="JetBrains Mono" pitchFamily="49" charset="0"/>
                <a:ea typeface="JetBrains Mono" pitchFamily="49" charset="-122"/>
                <a:cs typeface="JetBrains Mono" pitchFamily="49" charset="-120"/>
              </a:rPr>
              <a:t>¬(S ∨ F) ∨ C </a:t>
            </a:r>
            <a:r>
              <a:rPr lang="en-US" sz="1600" dirty="0">
                <a:solidFill>
                  <a:srgbClr val="E8913A"/>
                </a:solidFill>
                <a:latin typeface="JetBrains Mono" pitchFamily="49" charset="0"/>
                <a:ea typeface="JetBrains Mono" pitchFamily="49" charset="-122"/>
                <a:cs typeface="JetBrains Mono" pitchFamily="49" charset="-120"/>
              </a:rPr>
              <a:t>· elim →</a:t>
            </a:r>
            <a:endParaRPr lang="en-US" sz="1600" dirty="0"/>
          </a:p>
        </p:txBody>
      </p:sp>
      <p:sp>
        <p:nvSpPr>
          <p:cNvPr id="20" name="Text 18"/>
          <p:cNvSpPr/>
          <p:nvPr/>
        </p:nvSpPr>
        <p:spPr>
          <a:xfrm>
            <a:off x="6248400" y="3591561"/>
            <a:ext cx="49707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6"/>
                </a:solidFill>
                <a:latin typeface="JetBrains Mono" pitchFamily="49" charset="0"/>
                <a:ea typeface="JetBrains Mono" pitchFamily="49" charset="-122"/>
                <a:cs typeface="JetBrains Mono" pitchFamily="49" charset="-120"/>
              </a:rPr>
              <a:t>(¬S ∧ ¬F) ∨ C </a:t>
            </a:r>
            <a:r>
              <a:rPr lang="en-US" sz="1600" dirty="0">
                <a:solidFill>
                  <a:srgbClr val="E8913A"/>
                </a:solidFill>
                <a:latin typeface="JetBrains Mono" pitchFamily="49" charset="0"/>
                <a:ea typeface="JetBrains Mono" pitchFamily="49" charset="-122"/>
                <a:cs typeface="JetBrains Mono" pitchFamily="49" charset="-120"/>
              </a:rPr>
              <a:t>· De Morgan</a:t>
            </a:r>
            <a:endParaRPr lang="en-US" sz="1600" dirty="0"/>
          </a:p>
        </p:txBody>
      </p:sp>
      <p:sp>
        <p:nvSpPr>
          <p:cNvPr id="21" name="Text 19"/>
          <p:cNvSpPr/>
          <p:nvPr/>
        </p:nvSpPr>
        <p:spPr>
          <a:xfrm>
            <a:off x="6248400" y="4053841"/>
            <a:ext cx="49707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6"/>
                </a:solidFill>
                <a:latin typeface="JetBrains Mono" pitchFamily="49" charset="0"/>
                <a:ea typeface="JetBrains Mono" pitchFamily="49" charset="-122"/>
                <a:cs typeface="JetBrains Mono" pitchFamily="49" charset="-120"/>
              </a:rPr>
              <a:t>(¬S ∨ C) ∧ (¬F ∨ C) </a:t>
            </a:r>
            <a:r>
              <a:rPr lang="en-US" sz="1600" dirty="0">
                <a:solidFill>
                  <a:srgbClr val="E8913A"/>
                </a:solidFill>
                <a:latin typeface="JetBrains Mono" pitchFamily="49" charset="0"/>
                <a:ea typeface="JetBrains Mono" pitchFamily="49" charset="-122"/>
                <a:cs typeface="JetBrains Mono" pitchFamily="49" charset="-120"/>
              </a:rPr>
              <a:t>· distribute</a:t>
            </a:r>
            <a:endParaRPr lang="en-US" sz="1600" dirty="0"/>
          </a:p>
        </p:txBody>
      </p:sp>
      <p:sp>
        <p:nvSpPr>
          <p:cNvPr id="22" name="Text 20"/>
          <p:cNvSpPr/>
          <p:nvPr/>
        </p:nvSpPr>
        <p:spPr>
          <a:xfrm>
            <a:off x="6248400" y="4516120"/>
            <a:ext cx="49707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One clue became two clauses. Clue 6 (Y ↔ K) also splits in two: (¬Y ∨ K) and (¬K ∨ 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LEVEL 01 · RESULT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6"/>
                </a:solidFill>
                <a:latin typeface="Space Grotesk" pitchFamily="34" charset="0"/>
                <a:ea typeface="Space Grotesk" pitchFamily="34" charset="-122"/>
                <a:cs typeface="Space Grotesk" pitchFamily="34" charset="-120"/>
              </a:rPr>
              <a:t>Seven clues became nine clauses</a:t>
            </a:r>
            <a:endParaRPr lang="en-US" sz="3600" dirty="0"/>
          </a:p>
        </p:txBody>
      </p:sp>
      <p:sp>
        <p:nvSpPr>
          <p:cNvPr id="4" name="Shape 2"/>
          <p:cNvSpPr/>
          <p:nvPr/>
        </p:nvSpPr>
        <p:spPr>
          <a:xfrm>
            <a:off x="812800" y="1935482"/>
            <a:ext cx="3420507" cy="1026160"/>
          </a:xfrm>
          <a:prstGeom prst="roundRect">
            <a:avLst>
              <a:gd name="adj" fmla="val 9901"/>
            </a:avLst>
          </a:prstGeom>
          <a:solidFill>
            <a:srgbClr val="18233A"/>
          </a:solidFill>
          <a:ln/>
        </p:spPr>
      </p:sp>
      <p:sp>
        <p:nvSpPr>
          <p:cNvPr id="5" name="Text 3"/>
          <p:cNvSpPr/>
          <p:nvPr/>
        </p:nvSpPr>
        <p:spPr>
          <a:xfrm>
            <a:off x="1016000" y="213868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K1 · clue 1</a:t>
            </a:r>
            <a:endParaRPr lang="en-US" sz="1200" dirty="0"/>
          </a:p>
        </p:txBody>
      </p:sp>
      <p:sp>
        <p:nvSpPr>
          <p:cNvPr id="6" name="Text 4"/>
          <p:cNvSpPr/>
          <p:nvPr/>
        </p:nvSpPr>
        <p:spPr>
          <a:xfrm>
            <a:off x="1016000" y="2402839"/>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¬D ∨ S ∨ O</a:t>
            </a:r>
            <a:endParaRPr lang="en-US" sz="2000" dirty="0"/>
          </a:p>
        </p:txBody>
      </p:sp>
      <p:sp>
        <p:nvSpPr>
          <p:cNvPr id="7" name="Shape 5"/>
          <p:cNvSpPr/>
          <p:nvPr/>
        </p:nvSpPr>
        <p:spPr>
          <a:xfrm>
            <a:off x="4385707" y="1935482"/>
            <a:ext cx="3420507" cy="1026160"/>
          </a:xfrm>
          <a:prstGeom prst="roundRect">
            <a:avLst>
              <a:gd name="adj" fmla="val 9901"/>
            </a:avLst>
          </a:prstGeom>
          <a:solidFill>
            <a:srgbClr val="18233A"/>
          </a:solidFill>
          <a:ln/>
        </p:spPr>
      </p:sp>
      <p:sp>
        <p:nvSpPr>
          <p:cNvPr id="8" name="Text 6"/>
          <p:cNvSpPr/>
          <p:nvPr/>
        </p:nvSpPr>
        <p:spPr>
          <a:xfrm>
            <a:off x="4588907" y="213868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K2 · clue 2</a:t>
            </a:r>
            <a:endParaRPr lang="en-US" sz="1200" dirty="0"/>
          </a:p>
        </p:txBody>
      </p:sp>
      <p:sp>
        <p:nvSpPr>
          <p:cNvPr id="9" name="Text 7"/>
          <p:cNvSpPr/>
          <p:nvPr/>
        </p:nvSpPr>
        <p:spPr>
          <a:xfrm>
            <a:off x="4588907" y="2402839"/>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D</a:t>
            </a:r>
            <a:endParaRPr lang="en-US" sz="2000" dirty="0"/>
          </a:p>
        </p:txBody>
      </p:sp>
      <p:sp>
        <p:nvSpPr>
          <p:cNvPr id="10" name="Shape 8"/>
          <p:cNvSpPr/>
          <p:nvPr/>
        </p:nvSpPr>
        <p:spPr>
          <a:xfrm>
            <a:off x="7958614" y="1935482"/>
            <a:ext cx="3420507" cy="1026160"/>
          </a:xfrm>
          <a:prstGeom prst="roundRect">
            <a:avLst>
              <a:gd name="adj" fmla="val 9901"/>
            </a:avLst>
          </a:prstGeom>
          <a:solidFill>
            <a:srgbClr val="18233A"/>
          </a:solidFill>
          <a:ln/>
        </p:spPr>
      </p:sp>
      <p:sp>
        <p:nvSpPr>
          <p:cNvPr id="11" name="Text 9"/>
          <p:cNvSpPr/>
          <p:nvPr/>
        </p:nvSpPr>
        <p:spPr>
          <a:xfrm>
            <a:off x="8161814" y="213868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K3 · clue 3</a:t>
            </a:r>
            <a:endParaRPr lang="en-US" sz="1200" dirty="0"/>
          </a:p>
        </p:txBody>
      </p:sp>
      <p:sp>
        <p:nvSpPr>
          <p:cNvPr id="12" name="Text 10"/>
          <p:cNvSpPr/>
          <p:nvPr/>
        </p:nvSpPr>
        <p:spPr>
          <a:xfrm>
            <a:off x="8161814" y="2402839"/>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¬S ∨ C</a:t>
            </a:r>
            <a:endParaRPr lang="en-US" sz="2000" dirty="0"/>
          </a:p>
        </p:txBody>
      </p:sp>
      <p:sp>
        <p:nvSpPr>
          <p:cNvPr id="13" name="Shape 11"/>
          <p:cNvSpPr/>
          <p:nvPr/>
        </p:nvSpPr>
        <p:spPr>
          <a:xfrm>
            <a:off x="812800" y="3114039"/>
            <a:ext cx="3420507" cy="1026160"/>
          </a:xfrm>
          <a:prstGeom prst="roundRect">
            <a:avLst>
              <a:gd name="adj" fmla="val 9901"/>
            </a:avLst>
          </a:prstGeom>
          <a:solidFill>
            <a:srgbClr val="18233A"/>
          </a:solidFill>
          <a:ln/>
        </p:spPr>
      </p:sp>
      <p:sp>
        <p:nvSpPr>
          <p:cNvPr id="14" name="Text 12"/>
          <p:cNvSpPr/>
          <p:nvPr/>
        </p:nvSpPr>
        <p:spPr>
          <a:xfrm>
            <a:off x="1016000" y="3317239"/>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K4 · clue 3</a:t>
            </a:r>
            <a:endParaRPr lang="en-US" sz="1200" dirty="0"/>
          </a:p>
        </p:txBody>
      </p:sp>
      <p:sp>
        <p:nvSpPr>
          <p:cNvPr id="15" name="Text 13"/>
          <p:cNvSpPr/>
          <p:nvPr/>
        </p:nvSpPr>
        <p:spPr>
          <a:xfrm>
            <a:off x="1016000" y="3581400"/>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¬F ∨ C</a:t>
            </a:r>
            <a:endParaRPr lang="en-US" sz="2000" dirty="0"/>
          </a:p>
        </p:txBody>
      </p:sp>
      <p:sp>
        <p:nvSpPr>
          <p:cNvPr id="16" name="Shape 14"/>
          <p:cNvSpPr/>
          <p:nvPr/>
        </p:nvSpPr>
        <p:spPr>
          <a:xfrm>
            <a:off x="4385707" y="3114039"/>
            <a:ext cx="3420507" cy="1026160"/>
          </a:xfrm>
          <a:prstGeom prst="roundRect">
            <a:avLst>
              <a:gd name="adj" fmla="val 9901"/>
            </a:avLst>
          </a:prstGeom>
          <a:solidFill>
            <a:srgbClr val="18233A"/>
          </a:solidFill>
          <a:ln/>
        </p:spPr>
      </p:sp>
      <p:sp>
        <p:nvSpPr>
          <p:cNvPr id="17" name="Text 15"/>
          <p:cNvSpPr/>
          <p:nvPr/>
        </p:nvSpPr>
        <p:spPr>
          <a:xfrm>
            <a:off x="4588907" y="3317239"/>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K5 · clue 4</a:t>
            </a:r>
            <a:endParaRPr lang="en-US" sz="1200" dirty="0"/>
          </a:p>
        </p:txBody>
      </p:sp>
      <p:sp>
        <p:nvSpPr>
          <p:cNvPr id="18" name="Text 16"/>
          <p:cNvSpPr/>
          <p:nvPr/>
        </p:nvSpPr>
        <p:spPr>
          <a:xfrm>
            <a:off x="4588907" y="3581400"/>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¬C</a:t>
            </a:r>
            <a:endParaRPr lang="en-US" sz="2000" dirty="0"/>
          </a:p>
        </p:txBody>
      </p:sp>
      <p:sp>
        <p:nvSpPr>
          <p:cNvPr id="19" name="Shape 17"/>
          <p:cNvSpPr/>
          <p:nvPr/>
        </p:nvSpPr>
        <p:spPr>
          <a:xfrm>
            <a:off x="7958614" y="3114039"/>
            <a:ext cx="3420507" cy="1026160"/>
          </a:xfrm>
          <a:prstGeom prst="roundRect">
            <a:avLst>
              <a:gd name="adj" fmla="val 9901"/>
            </a:avLst>
          </a:prstGeom>
          <a:solidFill>
            <a:srgbClr val="18233A"/>
          </a:solidFill>
          <a:ln/>
        </p:spPr>
      </p:sp>
      <p:sp>
        <p:nvSpPr>
          <p:cNvPr id="20" name="Text 18"/>
          <p:cNvSpPr/>
          <p:nvPr/>
        </p:nvSpPr>
        <p:spPr>
          <a:xfrm>
            <a:off x="8161814" y="3317239"/>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K6 · clue 5</a:t>
            </a:r>
            <a:endParaRPr lang="en-US" sz="1200" dirty="0"/>
          </a:p>
        </p:txBody>
      </p:sp>
      <p:sp>
        <p:nvSpPr>
          <p:cNvPr id="21" name="Text 19"/>
          <p:cNvSpPr/>
          <p:nvPr/>
        </p:nvSpPr>
        <p:spPr>
          <a:xfrm>
            <a:off x="8161814" y="3581400"/>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¬L ∨ Y</a:t>
            </a:r>
            <a:endParaRPr lang="en-US" sz="2000" dirty="0"/>
          </a:p>
        </p:txBody>
      </p:sp>
      <p:sp>
        <p:nvSpPr>
          <p:cNvPr id="22" name="Shape 20"/>
          <p:cNvSpPr/>
          <p:nvPr/>
        </p:nvSpPr>
        <p:spPr>
          <a:xfrm>
            <a:off x="812800" y="4292600"/>
            <a:ext cx="3420507" cy="1026160"/>
          </a:xfrm>
          <a:prstGeom prst="roundRect">
            <a:avLst>
              <a:gd name="adj" fmla="val 9901"/>
            </a:avLst>
          </a:prstGeom>
          <a:solidFill>
            <a:srgbClr val="18233A"/>
          </a:solidFill>
          <a:ln/>
        </p:spPr>
      </p:sp>
      <p:sp>
        <p:nvSpPr>
          <p:cNvPr id="23" name="Text 21"/>
          <p:cNvSpPr/>
          <p:nvPr/>
        </p:nvSpPr>
        <p:spPr>
          <a:xfrm>
            <a:off x="1016000" y="44958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K7 · clue 6</a:t>
            </a:r>
            <a:endParaRPr lang="en-US" sz="1200" dirty="0"/>
          </a:p>
        </p:txBody>
      </p:sp>
      <p:sp>
        <p:nvSpPr>
          <p:cNvPr id="24" name="Text 22"/>
          <p:cNvSpPr/>
          <p:nvPr/>
        </p:nvSpPr>
        <p:spPr>
          <a:xfrm>
            <a:off x="1016000" y="4759961"/>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¬Y ∨ K</a:t>
            </a:r>
            <a:endParaRPr lang="en-US" sz="2000" dirty="0"/>
          </a:p>
        </p:txBody>
      </p:sp>
      <p:sp>
        <p:nvSpPr>
          <p:cNvPr id="25" name="Shape 23"/>
          <p:cNvSpPr/>
          <p:nvPr/>
        </p:nvSpPr>
        <p:spPr>
          <a:xfrm>
            <a:off x="4385707" y="4292600"/>
            <a:ext cx="3420507" cy="1026160"/>
          </a:xfrm>
          <a:prstGeom prst="roundRect">
            <a:avLst>
              <a:gd name="adj" fmla="val 9901"/>
            </a:avLst>
          </a:prstGeom>
          <a:solidFill>
            <a:srgbClr val="18233A"/>
          </a:solidFill>
          <a:ln/>
        </p:spPr>
      </p:sp>
      <p:sp>
        <p:nvSpPr>
          <p:cNvPr id="26" name="Text 24"/>
          <p:cNvSpPr/>
          <p:nvPr/>
        </p:nvSpPr>
        <p:spPr>
          <a:xfrm>
            <a:off x="4588907" y="44958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K8 · clue 6</a:t>
            </a:r>
            <a:endParaRPr lang="en-US" sz="1200" dirty="0"/>
          </a:p>
        </p:txBody>
      </p:sp>
      <p:sp>
        <p:nvSpPr>
          <p:cNvPr id="27" name="Text 25"/>
          <p:cNvSpPr/>
          <p:nvPr/>
        </p:nvSpPr>
        <p:spPr>
          <a:xfrm>
            <a:off x="4588907" y="4759961"/>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¬K ∨ Y</a:t>
            </a:r>
            <a:endParaRPr lang="en-US" sz="2000" dirty="0"/>
          </a:p>
        </p:txBody>
      </p:sp>
      <p:sp>
        <p:nvSpPr>
          <p:cNvPr id="28" name="Shape 26"/>
          <p:cNvSpPr/>
          <p:nvPr/>
        </p:nvSpPr>
        <p:spPr>
          <a:xfrm>
            <a:off x="7958614" y="4292600"/>
            <a:ext cx="3420507" cy="1026160"/>
          </a:xfrm>
          <a:prstGeom prst="roundRect">
            <a:avLst>
              <a:gd name="adj" fmla="val 9901"/>
            </a:avLst>
          </a:prstGeom>
          <a:solidFill>
            <a:srgbClr val="18233A"/>
          </a:solidFill>
          <a:ln/>
        </p:spPr>
      </p:sp>
      <p:sp>
        <p:nvSpPr>
          <p:cNvPr id="29" name="Text 27"/>
          <p:cNvSpPr/>
          <p:nvPr/>
        </p:nvSpPr>
        <p:spPr>
          <a:xfrm>
            <a:off x="8161814" y="44958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K9 · clue 7</a:t>
            </a:r>
            <a:endParaRPr lang="en-US" sz="1200" dirty="0"/>
          </a:p>
        </p:txBody>
      </p:sp>
      <p:sp>
        <p:nvSpPr>
          <p:cNvPr id="30" name="Text 28"/>
          <p:cNvSpPr/>
          <p:nvPr/>
        </p:nvSpPr>
        <p:spPr>
          <a:xfrm>
            <a:off x="8161814" y="4759961"/>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¬K ∨ ¬A</a:t>
            </a:r>
            <a:endParaRPr lang="en-US" sz="2000" dirty="0"/>
          </a:p>
        </p:txBody>
      </p:sp>
      <p:sp>
        <p:nvSpPr>
          <p:cNvPr id="31" name="Text 29"/>
          <p:cNvSpPr/>
          <p:nvPr/>
        </p:nvSpPr>
        <p:spPr>
          <a:xfrm>
            <a:off x="812800" y="562356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K10 is kept free: in Level 03 it holds the negation of whatever we want to prove.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02 · RESOLUTION DOMINOES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Twelve cards, six pairs, one trap</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42"/>
          <a:ext cx="10556240" cy="4124960"/>
        </p:xfrm>
        <a:graphic>
          <a:graphicData uri="http://schemas.openxmlformats.org/drawingml/2006/table">
            <a:tbl>
              <a:tblPr/>
              <a:tblGrid>
                <a:gridCol w="2111248"/>
                <a:gridCol w="2111248"/>
                <a:gridCol w="2111248"/>
                <a:gridCol w="2111248"/>
                <a:gridCol w="2111248"/>
              </a:tblGrid>
              <a:tr h="411480">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PAIR</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CARDS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ON</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RESOLVENT</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FACTORING</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(¬T ∨ U) + (T ∨ U)</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T</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U ∨ U ⇒ U</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Yes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(¬Q ∨ R) + (P ∨ Q)</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Q</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P ∨ R</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3</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(X ∨ ¬Y ∨ Z) + (Y ∨ W)</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Y</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X ∨ Z ∨ W</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1148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4</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(M) + (¬M)</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M</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 ) empty clause</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5</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(A ∨ B ∨ S) + (¬A ∨ R ∨ 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A</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B ∨ S ∨ R ∨ S ⇒ B ∨ R ∨ 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Yes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6</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(G ∨ H) + (¬G ∨ ¬H)</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G</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H ∨ ¬H · TRAP</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91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A1208"/>
                </a:solidFill>
                <a:latin typeface="JetBrains Mono" pitchFamily="49" charset="0"/>
                <a:ea typeface="JetBrains Mono" pitchFamily="49" charset="-122"/>
                <a:cs typeface="JetBrains Mono" pitchFamily="49" charset="-120"/>
              </a:rPr>
              <a:t>⚠ BUG REPORT · THE TRAP PAIR</a:t>
            </a:r>
            <a:endParaRPr lang="en-US" sz="1200" dirty="0"/>
          </a:p>
        </p:txBody>
      </p:sp>
      <p:sp>
        <p:nvSpPr>
          <p:cNvPr id="3" name="Text 1"/>
          <p:cNvSpPr/>
          <p:nvPr>
            <p:ph type="title"/>
          </p:nvPr>
        </p:nvSpPr>
        <p:spPr>
          <a:xfrm>
            <a:off x="812800" y="2151382"/>
            <a:ext cx="10883392"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A1208"/>
                </a:solidFill>
                <a:latin typeface="Space Grotesk" pitchFamily="34" charset="0"/>
                <a:ea typeface="Space Grotesk" pitchFamily="34" charset="-122"/>
                <a:cs typeface="Space Grotesk" pitchFamily="34" charset="-120"/>
              </a:rPr>
              <a:t>One resolution step cancels only one pair of literals.</a:t>
            </a:r>
            <a:endParaRPr lang="en-US" sz="4400" dirty="0"/>
          </a:p>
        </p:txBody>
      </p:sp>
      <p:sp>
        <p:nvSpPr>
          <p:cNvPr id="4" name="Text 2"/>
          <p:cNvSpPr/>
          <p:nvPr/>
        </p:nvSpPr>
        <p:spPr>
          <a:xfrm>
            <a:off x="812800" y="3634739"/>
            <a:ext cx="3585925" cy="645160"/>
          </a:xfrm>
          <a:prstGeom prst="roundRect">
            <a:avLst>
              <a:gd name="adj" fmla="val 11811"/>
            </a:avLst>
          </a:prstGeom>
          <a:solidFill>
            <a:srgbClr val="F6E3CF"/>
          </a:solidFill>
          <a:ln/>
        </p:spPr>
        <p:txBody>
          <a:bodyPr wrap="none" lIns="0" tIns="0" rIns="0" bIns="0" rtlCol="0" anchor="ctr">
            <a:normAutofit/>
          </a:bodyPr>
          <a:lstStyle/>
          <a:p>
            <a:pPr algn="ctr" indent="0" marL="0">
              <a:lnSpc>
                <a:spcPts val="3080"/>
              </a:lnSpc>
              <a:buNone/>
            </a:pPr>
            <a:r>
              <a:rPr lang="en-US" sz="2200" dirty="0">
                <a:solidFill>
                  <a:srgbClr val="1A1208"/>
                </a:solidFill>
                <a:latin typeface="JetBrains Mono" pitchFamily="49" charset="0"/>
                <a:ea typeface="JetBrains Mono" pitchFamily="49" charset="-122"/>
                <a:cs typeface="JetBrains Mono" pitchFamily="49" charset="-120"/>
              </a:rPr>
              <a:t>(G ∨ H) + (¬G ∨ ¬H)</a:t>
            </a:r>
            <a:endParaRPr lang="en-US" sz="2200" dirty="0"/>
          </a:p>
        </p:txBody>
      </p:sp>
      <p:sp>
        <p:nvSpPr>
          <p:cNvPr id="5" name="Text 3"/>
          <p:cNvSpPr/>
          <p:nvPr/>
        </p:nvSpPr>
        <p:spPr>
          <a:xfrm>
            <a:off x="4652725" y="3761739"/>
            <a:ext cx="218519"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A1208"/>
                </a:solidFill>
                <a:latin typeface="JetBrains Mono" pitchFamily="49" charset="0"/>
                <a:ea typeface="JetBrains Mono" pitchFamily="49" charset="-122"/>
                <a:cs typeface="JetBrains Mono" pitchFamily="49" charset="-120"/>
              </a:rPr>
              <a:t>→</a:t>
            </a:r>
            <a:endParaRPr lang="en-US" sz="2200" dirty="0"/>
          </a:p>
        </p:txBody>
      </p:sp>
      <p:sp>
        <p:nvSpPr>
          <p:cNvPr id="6" name="Text 4"/>
          <p:cNvSpPr/>
          <p:nvPr/>
        </p:nvSpPr>
        <p:spPr>
          <a:xfrm>
            <a:off x="5074444" y="3634739"/>
            <a:ext cx="1409462" cy="645160"/>
          </a:xfrm>
          <a:prstGeom prst="roundRect">
            <a:avLst>
              <a:gd name="adj" fmla="val 11811"/>
            </a:avLst>
          </a:prstGeom>
          <a:solidFill>
            <a:srgbClr val="1A1208"/>
          </a:solidFill>
          <a:ln/>
        </p:spPr>
        <p:txBody>
          <a:bodyPr wrap="none" lIns="0" tIns="0" rIns="0" bIns="0" rtlCol="0" anchor="ctr">
            <a:normAutofit/>
          </a:bodyPr>
          <a:lstStyle/>
          <a:p>
            <a:pPr algn="ctr" indent="0" marL="0">
              <a:lnSpc>
                <a:spcPts val="3080"/>
              </a:lnSpc>
              <a:buNone/>
            </a:pPr>
            <a:r>
              <a:rPr lang="en-US" sz="2200" dirty="0">
                <a:solidFill>
                  <a:srgbClr val="F6E3CF"/>
                </a:solidFill>
                <a:latin typeface="JetBrains Mono" pitchFamily="49" charset="0"/>
                <a:ea typeface="JetBrains Mono" pitchFamily="49" charset="-122"/>
                <a:cs typeface="JetBrains Mono" pitchFamily="49" charset="-120"/>
              </a:rPr>
              <a:t>H ∨ ¬H</a:t>
            </a:r>
            <a:endParaRPr lang="en-US" sz="2200" dirty="0"/>
          </a:p>
        </p:txBody>
      </p:sp>
      <p:sp>
        <p:nvSpPr>
          <p:cNvPr id="7" name="Text 5"/>
          <p:cNvSpPr/>
          <p:nvPr/>
        </p:nvSpPr>
        <p:spPr>
          <a:xfrm>
            <a:off x="812800" y="5405121"/>
            <a:ext cx="98107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208"/>
                </a:solidFill>
                <a:latin typeface="Space Grotesk" pitchFamily="34" charset="0"/>
                <a:ea typeface="Space Grotesk" pitchFamily="34" charset="-122"/>
                <a:cs typeface="Space Grotesk" pitchFamily="34" charset="-120"/>
              </a:rPr>
              <a:t>Resolving on G leaves H ∨ ¬H, a tautology that is always true, not the empty clause. Cancelling G and H at once is an illegal move.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03 · CASE 3A · PROVE KB ⊨ O</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Did Omar take the paper?</a:t>
            </a:r>
            <a:endParaRPr lang="en-US" sz="3600" dirty="0"/>
          </a:p>
        </p:txBody>
      </p:sp>
      <p:sp>
        <p:nvSpPr>
          <p:cNvPr id="4" name="Shape 2"/>
          <p:cNvSpPr/>
          <p:nvPr/>
        </p:nvSpPr>
        <p:spPr>
          <a:xfrm>
            <a:off x="812800" y="1884682"/>
            <a:ext cx="3302000" cy="2283460"/>
          </a:xfrm>
          <a:prstGeom prst="roundRect">
            <a:avLst>
              <a:gd name="adj" fmla="val 4449"/>
            </a:avLst>
          </a:prstGeom>
          <a:solidFill>
            <a:srgbClr val="0E1526"/>
          </a:solidFill>
          <a:ln/>
        </p:spPr>
      </p:sp>
      <p:sp>
        <p:nvSpPr>
          <p:cNvPr id="5" name="Text 3"/>
          <p:cNvSpPr/>
          <p:nvPr/>
        </p:nvSpPr>
        <p:spPr>
          <a:xfrm>
            <a:off x="1066800" y="213868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B6C9"/>
                </a:solidFill>
                <a:latin typeface="JetBrains Mono" pitchFamily="49" charset="0"/>
                <a:ea typeface="JetBrains Mono" pitchFamily="49" charset="-122"/>
                <a:cs typeface="JetBrains Mono" pitchFamily="49" charset="-120"/>
              </a:rPr>
              <a:t>ASSUME THE OPPOSITE</a:t>
            </a:r>
            <a:endParaRPr lang="en-US" sz="1200" dirty="0"/>
          </a:p>
        </p:txBody>
      </p:sp>
      <p:sp>
        <p:nvSpPr>
          <p:cNvPr id="6" name="Text 4"/>
          <p:cNvSpPr/>
          <p:nvPr/>
        </p:nvSpPr>
        <p:spPr>
          <a:xfrm>
            <a:off x="1066800" y="2479039"/>
            <a:ext cx="287782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EEF1F6"/>
                </a:solidFill>
                <a:latin typeface="JetBrains Mono" pitchFamily="49" charset="0"/>
                <a:ea typeface="JetBrains Mono" pitchFamily="49" charset="-122"/>
                <a:cs typeface="JetBrains Mono" pitchFamily="49" charset="-120"/>
              </a:rPr>
              <a:t>K10: ¬O</a:t>
            </a:r>
            <a:endParaRPr lang="en-US" sz="2200" dirty="0"/>
          </a:p>
        </p:txBody>
      </p:sp>
      <p:sp>
        <p:nvSpPr>
          <p:cNvPr id="7" name="Text 5"/>
          <p:cNvSpPr/>
          <p:nvPr/>
        </p:nvSpPr>
        <p:spPr>
          <a:xfrm>
            <a:off x="1066800" y="2997200"/>
            <a:ext cx="287782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Pretend Omar is innocent, then look for a contradiction.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29760" y="1894842"/>
          <a:ext cx="6949440" cy="2273300"/>
        </p:xfrm>
        <a:graphic>
          <a:graphicData uri="http://schemas.openxmlformats.org/drawingml/2006/table">
            <a:tbl>
              <a:tblPr/>
              <a:tblGrid>
                <a:gridCol w="1737360"/>
                <a:gridCol w="1737360"/>
                <a:gridCol w="1737360"/>
                <a:gridCol w="1737360"/>
              </a:tblGrid>
              <a:tr h="454660">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STEP</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CLAUSES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ON</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RESULT</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R1</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K1 + K2</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D</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 ∨ O</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R2</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R1 + K10</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O</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R3</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K3 + K5</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C</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R4</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R2 + R3</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 ) empty</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9" name="Text 6"/>
          <p:cNvSpPr/>
          <p:nvPr/>
        </p:nvSpPr>
        <p:spPr>
          <a:xfrm>
            <a:off x="812800" y="4422142"/>
            <a:ext cx="10566400" cy="675640"/>
          </a:xfrm>
          <a:prstGeom prst="roundRect">
            <a:avLst>
              <a:gd name="adj" fmla="val 15038"/>
            </a:avLst>
          </a:prstGeom>
          <a:solidFill>
            <a:srgbClr val="1580A0"/>
          </a:solidFill>
          <a:ln/>
        </p:spPr>
        <p:txBody>
          <a:bodyPr wrap="square" lIns="224242" tIns="148042" rIns="0" bIns="122642" rtlCol="0" anchor="t">
            <a:normAutofit/>
          </a:bodyPr>
          <a:lstStyle/>
          <a:p>
            <a:pPr algn="l" indent="0" marL="0">
              <a:lnSpc>
                <a:spcPts val="2520"/>
              </a:lnSpc>
              <a:buNone/>
            </a:pPr>
            <a:r>
              <a:rPr lang="en-US" sz="1800" b="1" dirty="0">
                <a:solidFill>
                  <a:srgbClr val="F3F1EA"/>
                </a:solidFill>
                <a:latin typeface="Space Grotesk" pitchFamily="34" charset="0"/>
                <a:ea typeface="Space Grotesk" pitchFamily="34" charset="-122"/>
                <a:cs typeface="Space Grotesk" pitchFamily="34" charset="-120"/>
              </a:rPr>
              <a:t>Verdict: contradiction reached, so KB ⊨ O. Omar took the paper.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03 · CASE 3B + SIDE QUEST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Sara is innocent, and the door wasn’t forced</a:t>
            </a:r>
            <a:endParaRPr lang="en-US" sz="3600" dirty="0"/>
          </a:p>
        </p:txBody>
      </p:sp>
      <p:sp>
        <p:nvSpPr>
          <p:cNvPr id="4" name="Shape 2"/>
          <p:cNvSpPr/>
          <p:nvPr/>
        </p:nvSpPr>
        <p:spPr>
          <a:xfrm>
            <a:off x="819150" y="1891029"/>
            <a:ext cx="5143500" cy="2725420"/>
          </a:xfrm>
          <a:prstGeom prst="roundRect">
            <a:avLst>
              <a:gd name="adj" fmla="val 3495"/>
            </a:avLst>
          </a:prstGeom>
          <a:solidFill>
            <a:srgbClr val="FFFFFF"/>
          </a:solidFill>
          <a:ln w="12700">
            <a:solidFill>
              <a:srgbClr val="DCD8CC"/>
            </a:solidFill>
            <a:prstDash val="solid"/>
          </a:ln>
        </p:spPr>
      </p:sp>
      <p:sp>
        <p:nvSpPr>
          <p:cNvPr id="5" name="Text 3"/>
          <p:cNvSpPr/>
          <p:nvPr/>
        </p:nvSpPr>
        <p:spPr>
          <a:xfrm>
            <a:off x="1076960" y="2148842"/>
            <a:ext cx="47667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CASE 3B · PROVE KB ⊨ ¬S</a:t>
            </a:r>
            <a:endParaRPr lang="en-US" sz="1200" dirty="0"/>
          </a:p>
        </p:txBody>
      </p:sp>
      <p:sp>
        <p:nvSpPr>
          <p:cNvPr id="6" name="Text 4"/>
          <p:cNvSpPr/>
          <p:nvPr/>
        </p:nvSpPr>
        <p:spPr>
          <a:xfrm>
            <a:off x="1076960" y="2514600"/>
            <a:ext cx="476671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333"/>
                </a:solidFill>
                <a:latin typeface="JetBrains Mono" pitchFamily="49" charset="0"/>
                <a:ea typeface="JetBrains Mono" pitchFamily="49" charset="-122"/>
                <a:cs typeface="JetBrains Mono" pitchFamily="49" charset="-120"/>
              </a:rPr>
              <a:t>Add K10: S</a:t>
            </a:r>
            <a:endParaRPr lang="en-US" sz="1800" dirty="0"/>
          </a:p>
        </p:txBody>
      </p:sp>
      <p:sp>
        <p:nvSpPr>
          <p:cNvPr id="7" name="Text 5"/>
          <p:cNvSpPr/>
          <p:nvPr/>
        </p:nvSpPr>
        <p:spPr>
          <a:xfrm>
            <a:off x="1076960" y="2987042"/>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R1 · K10 + K3 on S → C</a:t>
            </a:r>
            <a:endParaRPr lang="en-US" sz="1600" dirty="0"/>
          </a:p>
        </p:txBody>
      </p:sp>
      <p:sp>
        <p:nvSpPr>
          <p:cNvPr id="8" name="Text 6"/>
          <p:cNvSpPr/>
          <p:nvPr/>
        </p:nvSpPr>
        <p:spPr>
          <a:xfrm>
            <a:off x="1076960" y="3423921"/>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R2 · R1 + K5 on C → </a:t>
            </a:r>
            <a:r>
              <a:rPr lang="en-US" sz="1600" b="1" dirty="0">
                <a:solidFill>
                  <a:srgbClr val="1B2333"/>
                </a:solidFill>
                <a:latin typeface="JetBrains Mono" pitchFamily="49" charset="0"/>
                <a:ea typeface="JetBrains Mono" pitchFamily="49" charset="-122"/>
                <a:cs typeface="JetBrains Mono" pitchFamily="49" charset="-120"/>
              </a:rPr>
              <a:t>( )</a:t>
            </a:r>
            <a:endParaRPr lang="en-US" sz="1600" dirty="0"/>
          </a:p>
        </p:txBody>
      </p:sp>
      <p:sp>
        <p:nvSpPr>
          <p:cNvPr id="9" name="Text 7"/>
          <p:cNvSpPr/>
          <p:nvPr/>
        </p:nvSpPr>
        <p:spPr>
          <a:xfrm>
            <a:off x="1076960" y="3860800"/>
            <a:ext cx="476671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Space Grotesk" pitchFamily="34" charset="0"/>
                <a:ea typeface="Space Grotesk" pitchFamily="34" charset="-122"/>
                <a:cs typeface="Space Grotesk" pitchFamily="34" charset="-120"/>
              </a:rPr>
              <a:t>If Sara did it, the camera was off. It wasn’t. Contradiction in two steps.</a:t>
            </a:r>
            <a:endParaRPr lang="en-US" sz="1400" dirty="0"/>
          </a:p>
        </p:txBody>
      </p:sp>
      <p:sp>
        <p:nvSpPr>
          <p:cNvPr id="10" name="Shape 8"/>
          <p:cNvSpPr/>
          <p:nvPr/>
        </p:nvSpPr>
        <p:spPr>
          <a:xfrm>
            <a:off x="6229350" y="1891029"/>
            <a:ext cx="5143500" cy="2725420"/>
          </a:xfrm>
          <a:prstGeom prst="roundRect">
            <a:avLst>
              <a:gd name="adj" fmla="val 3495"/>
            </a:avLst>
          </a:prstGeom>
          <a:solidFill>
            <a:srgbClr val="FFFFFF"/>
          </a:solidFill>
          <a:ln w="12700">
            <a:solidFill>
              <a:srgbClr val="DCD8CC"/>
            </a:solidFill>
            <a:prstDash val="solid"/>
          </a:ln>
        </p:spPr>
      </p:sp>
      <p:sp>
        <p:nvSpPr>
          <p:cNvPr id="11" name="Text 9"/>
          <p:cNvSpPr/>
          <p:nvPr/>
        </p:nvSpPr>
        <p:spPr>
          <a:xfrm>
            <a:off x="6487160" y="2148842"/>
            <a:ext cx="47667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 SIDE QUEST · PROVE KB ⊨ ¬F</a:t>
            </a:r>
            <a:endParaRPr lang="en-US" sz="1200" dirty="0"/>
          </a:p>
        </p:txBody>
      </p:sp>
      <p:sp>
        <p:nvSpPr>
          <p:cNvPr id="12" name="Text 10"/>
          <p:cNvSpPr/>
          <p:nvPr/>
        </p:nvSpPr>
        <p:spPr>
          <a:xfrm>
            <a:off x="6487160" y="2514600"/>
            <a:ext cx="476671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333"/>
                </a:solidFill>
                <a:latin typeface="JetBrains Mono" pitchFamily="49" charset="0"/>
                <a:ea typeface="JetBrains Mono" pitchFamily="49" charset="-122"/>
                <a:cs typeface="JetBrains Mono" pitchFamily="49" charset="-120"/>
              </a:rPr>
              <a:t>Add K10: F</a:t>
            </a:r>
            <a:endParaRPr lang="en-US" sz="1800" dirty="0"/>
          </a:p>
        </p:txBody>
      </p:sp>
      <p:sp>
        <p:nvSpPr>
          <p:cNvPr id="13" name="Text 11"/>
          <p:cNvSpPr/>
          <p:nvPr/>
        </p:nvSpPr>
        <p:spPr>
          <a:xfrm>
            <a:off x="6487160" y="2987042"/>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R1 · K10 + K4 on F → C</a:t>
            </a:r>
            <a:endParaRPr lang="en-US" sz="1600" dirty="0"/>
          </a:p>
        </p:txBody>
      </p:sp>
      <p:sp>
        <p:nvSpPr>
          <p:cNvPr id="14" name="Text 12"/>
          <p:cNvSpPr/>
          <p:nvPr/>
        </p:nvSpPr>
        <p:spPr>
          <a:xfrm>
            <a:off x="6487160" y="3423921"/>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R2 · R1 + K5 on C → </a:t>
            </a:r>
            <a:r>
              <a:rPr lang="en-US" sz="1600" b="1" dirty="0">
                <a:solidFill>
                  <a:srgbClr val="1B2333"/>
                </a:solidFill>
                <a:latin typeface="JetBrains Mono" pitchFamily="49" charset="0"/>
                <a:ea typeface="JetBrains Mono" pitchFamily="49" charset="-122"/>
                <a:cs typeface="JetBrains Mono" pitchFamily="49" charset="-120"/>
              </a:rPr>
              <a:t>( )</a:t>
            </a:r>
            <a:endParaRPr lang="en-US" sz="1600" dirty="0"/>
          </a:p>
        </p:txBody>
      </p:sp>
      <p:sp>
        <p:nvSpPr>
          <p:cNvPr id="15" name="Text 13"/>
          <p:cNvSpPr/>
          <p:nvPr/>
        </p:nvSpPr>
        <p:spPr>
          <a:xfrm>
            <a:off x="6487160" y="3860800"/>
            <a:ext cx="476671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Space Grotesk" pitchFamily="34" charset="0"/>
                <a:ea typeface="Space Grotesk" pitchFamily="34" charset="-122"/>
                <a:cs typeface="Space Grotesk" pitchFamily="34" charset="-120"/>
              </a:rPr>
              <a:t>A forced door would also mean the camera was off. Same contradiction.</a:t>
            </a:r>
            <a:endParaRPr lang="en-US" sz="1400" dirty="0"/>
          </a:p>
        </p:txBody>
      </p:sp>
      <p:sp>
        <p:nvSpPr>
          <p:cNvPr id="16" name="Text 14"/>
          <p:cNvSpPr/>
          <p:nvPr/>
        </p:nvSpPr>
        <p:spPr>
          <a:xfrm>
            <a:off x="812800" y="4876800"/>
            <a:ext cx="10566400" cy="675640"/>
          </a:xfrm>
          <a:prstGeom prst="roundRect">
            <a:avLst>
              <a:gd name="adj" fmla="val 15038"/>
            </a:avLst>
          </a:prstGeom>
          <a:solidFill>
            <a:srgbClr val="1580A0"/>
          </a:solidFill>
          <a:ln/>
        </p:spPr>
        <p:txBody>
          <a:bodyPr wrap="square" lIns="224242" tIns="148042" rIns="0" bIns="122642" rtlCol="0" anchor="t">
            <a:normAutofit/>
          </a:bodyPr>
          <a:lstStyle/>
          <a:p>
            <a:pPr algn="l" indent="0" marL="0">
              <a:lnSpc>
                <a:spcPts val="2520"/>
              </a:lnSpc>
              <a:buNone/>
            </a:pPr>
            <a:r>
              <a:rPr lang="en-US" sz="1800" b="1" dirty="0">
                <a:solidFill>
                  <a:srgbClr val="F3F1EA"/>
                </a:solidFill>
                <a:latin typeface="Space Grotesk" pitchFamily="34" charset="0"/>
                <a:ea typeface="Space Grotesk" pitchFamily="34" charset="-122"/>
                <a:cs typeface="Space Grotesk" pitchFamily="34" charset="-120"/>
              </a:rPr>
              <a:t>Verdict: KB ⊨ ¬S and KB ⊨ ¬F. Sara is cleared, the door was not forced.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LEVEL 03 · CASE 3C · BOSS FIGHT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6"/>
                </a:solidFill>
                <a:latin typeface="Space Grotesk" pitchFamily="34" charset="0"/>
                <a:ea typeface="Space Grotesk" pitchFamily="34" charset="-122"/>
                <a:cs typeface="Space Grotesk" pitchFamily="34" charset="-120"/>
              </a:rPr>
              <a:t>Lina can be neither accused nor cleared</a:t>
            </a:r>
            <a:endParaRPr lang="en-US" sz="3600" dirty="0"/>
          </a:p>
        </p:txBody>
      </p:sp>
      <p:sp>
        <p:nvSpPr>
          <p:cNvPr id="4" name="Shape 2"/>
          <p:cNvSpPr/>
          <p:nvPr/>
        </p:nvSpPr>
        <p:spPr>
          <a:xfrm>
            <a:off x="812800" y="1884679"/>
            <a:ext cx="5156200" cy="2225040"/>
          </a:xfrm>
          <a:prstGeom prst="roundRect">
            <a:avLst>
              <a:gd name="adj" fmla="val 4566"/>
            </a:avLst>
          </a:prstGeom>
          <a:solidFill>
            <a:srgbClr val="18233A"/>
          </a:solidFill>
          <a:ln/>
        </p:spPr>
      </p:sp>
      <p:sp>
        <p:nvSpPr>
          <p:cNvPr id="5" name="Text 3"/>
          <p:cNvSpPr/>
          <p:nvPr/>
        </p:nvSpPr>
        <p:spPr>
          <a:xfrm>
            <a:off x="1066800" y="2138679"/>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ATTEMPT 1 · ADD ¬L (TRY TO ACCUSE)</a:t>
            </a:r>
            <a:endParaRPr lang="en-US" sz="1200" dirty="0"/>
          </a:p>
        </p:txBody>
      </p:sp>
      <p:sp>
        <p:nvSpPr>
          <p:cNvPr id="6" name="Text 4"/>
          <p:cNvSpPr/>
          <p:nvPr/>
        </p:nvSpPr>
        <p:spPr>
          <a:xfrm>
            <a:off x="1066800" y="2479042"/>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K6 + K7 on Y → ¬L ∨ K</a:t>
            </a:r>
            <a:endParaRPr lang="en-US" sz="1400" dirty="0"/>
          </a:p>
        </p:txBody>
      </p:sp>
      <p:sp>
        <p:nvSpPr>
          <p:cNvPr id="7" name="Text 5"/>
          <p:cNvSpPr/>
          <p:nvPr/>
        </p:nvSpPr>
        <p:spPr>
          <a:xfrm>
            <a:off x="1066800" y="2854964"/>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R1 + K9 on K → ¬L ∨ ¬A</a:t>
            </a:r>
            <a:endParaRPr lang="en-US" sz="1400" dirty="0"/>
          </a:p>
        </p:txBody>
      </p:sp>
      <p:sp>
        <p:nvSpPr>
          <p:cNvPr id="8" name="Text 6"/>
          <p:cNvSpPr/>
          <p:nvPr/>
        </p:nvSpPr>
        <p:spPr>
          <a:xfrm>
            <a:off x="1066800" y="3230879"/>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K4 + K5 on C → ¬F</a:t>
            </a:r>
            <a:endParaRPr lang="en-US" sz="1400" dirty="0"/>
          </a:p>
        </p:txBody>
      </p:sp>
      <p:sp>
        <p:nvSpPr>
          <p:cNvPr id="9" name="Text 7"/>
          <p:cNvSpPr/>
          <p:nvPr/>
        </p:nvSpPr>
        <p:spPr>
          <a:xfrm>
            <a:off x="1066800" y="3606800"/>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No clause contains +L, so ¬L never cancels. No ( ).</a:t>
            </a:r>
            <a:endParaRPr lang="en-US" sz="1400" dirty="0"/>
          </a:p>
        </p:txBody>
      </p:sp>
      <p:sp>
        <p:nvSpPr>
          <p:cNvPr id="10" name="Shape 8"/>
          <p:cNvSpPr/>
          <p:nvPr/>
        </p:nvSpPr>
        <p:spPr>
          <a:xfrm>
            <a:off x="6223000" y="1884679"/>
            <a:ext cx="5156200" cy="2225040"/>
          </a:xfrm>
          <a:prstGeom prst="roundRect">
            <a:avLst>
              <a:gd name="adj" fmla="val 4566"/>
            </a:avLst>
          </a:prstGeom>
          <a:solidFill>
            <a:srgbClr val="18233A"/>
          </a:solidFill>
          <a:ln/>
        </p:spPr>
      </p:sp>
      <p:sp>
        <p:nvSpPr>
          <p:cNvPr id="11" name="Text 9"/>
          <p:cNvSpPr/>
          <p:nvPr/>
        </p:nvSpPr>
        <p:spPr>
          <a:xfrm>
            <a:off x="6477000" y="2138679"/>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ATTEMPT 2 · ADD L (TRY TO CLEAR)</a:t>
            </a:r>
            <a:endParaRPr lang="en-US" sz="1200" dirty="0"/>
          </a:p>
        </p:txBody>
      </p:sp>
      <p:sp>
        <p:nvSpPr>
          <p:cNvPr id="12" name="Text 10"/>
          <p:cNvSpPr/>
          <p:nvPr/>
        </p:nvSpPr>
        <p:spPr>
          <a:xfrm>
            <a:off x="6477000" y="2479042"/>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K10 + K6 on L → Y</a:t>
            </a:r>
            <a:endParaRPr lang="en-US" sz="1400" dirty="0"/>
          </a:p>
        </p:txBody>
      </p:sp>
      <p:sp>
        <p:nvSpPr>
          <p:cNvPr id="13" name="Text 11"/>
          <p:cNvSpPr/>
          <p:nvPr/>
        </p:nvSpPr>
        <p:spPr>
          <a:xfrm>
            <a:off x="6477000" y="2854964"/>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R1 + K7 on Y → K</a:t>
            </a:r>
            <a:endParaRPr lang="en-US" sz="1400" dirty="0"/>
          </a:p>
        </p:txBody>
      </p:sp>
      <p:sp>
        <p:nvSpPr>
          <p:cNvPr id="14" name="Text 12"/>
          <p:cNvSpPr/>
          <p:nvPr/>
        </p:nvSpPr>
        <p:spPr>
          <a:xfrm>
            <a:off x="6477000" y="3230879"/>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R2 + K9 on K → ¬A</a:t>
            </a:r>
            <a:endParaRPr lang="en-US" sz="1400" dirty="0"/>
          </a:p>
        </p:txBody>
      </p:sp>
      <p:sp>
        <p:nvSpPr>
          <p:cNvPr id="15" name="Text 13"/>
          <p:cNvSpPr/>
          <p:nvPr/>
        </p:nvSpPr>
        <p:spPr>
          <a:xfrm>
            <a:off x="6477000" y="3606800"/>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¬A has no partner, so the chain stops. No ( ).</a:t>
            </a:r>
            <a:endParaRPr lang="en-US" sz="1400" dirty="0"/>
          </a:p>
        </p:txBody>
      </p:sp>
      <p:sp>
        <p:nvSpPr>
          <p:cNvPr id="16" name="Text 14"/>
          <p:cNvSpPr/>
          <p:nvPr/>
        </p:nvSpPr>
        <p:spPr>
          <a:xfrm>
            <a:off x="812800" y="4363721"/>
            <a:ext cx="10566400" cy="675640"/>
          </a:xfrm>
          <a:prstGeom prst="roundRect">
            <a:avLst>
              <a:gd name="adj" fmla="val 15038"/>
            </a:avLst>
          </a:prstGeom>
          <a:solidFill>
            <a:srgbClr val="1FB6C9"/>
          </a:solidFill>
          <a:ln/>
        </p:spPr>
        <p:txBody>
          <a:bodyPr wrap="square" lIns="224242" tIns="148042" rIns="0" bIns="122642" rtlCol="0" anchor="t">
            <a:normAutofit/>
          </a:bodyPr>
          <a:lstStyle/>
          <a:p>
            <a:pPr algn="l" indent="0" marL="0">
              <a:lnSpc>
                <a:spcPts val="2520"/>
              </a:lnSpc>
              <a:buNone/>
            </a:pPr>
            <a:r>
              <a:rPr lang="en-US" sz="1800" b="1" dirty="0">
                <a:solidFill>
                  <a:srgbClr val="0E1526"/>
                </a:solidFill>
                <a:latin typeface="Space Grotesk" pitchFamily="34" charset="0"/>
                <a:ea typeface="Space Grotesk" pitchFamily="34" charset="-122"/>
                <a:cs typeface="Space Grotesk" pitchFamily="34" charset="-120"/>
              </a:rPr>
              <a:t>KB ⊭ L and KB ⊭ ¬L. Omar’s claim cannot be proven either way.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CASE CLOSED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The final accusation</a:t>
            </a:r>
            <a:endParaRPr lang="en-US" sz="3600" dirty="0"/>
          </a:p>
        </p:txBody>
      </p:sp>
      <p:sp>
        <p:nvSpPr>
          <p:cNvPr id="4" name="Shape 2"/>
          <p:cNvSpPr/>
          <p:nvPr/>
        </p:nvSpPr>
        <p:spPr>
          <a:xfrm>
            <a:off x="812800" y="2725421"/>
            <a:ext cx="2508250" cy="1656080"/>
          </a:xfrm>
          <a:prstGeom prst="roundRect">
            <a:avLst>
              <a:gd name="adj" fmla="val 6135"/>
            </a:avLst>
          </a:prstGeom>
          <a:solidFill>
            <a:srgbClr val="0E1526"/>
          </a:solidFill>
          <a:ln/>
        </p:spPr>
      </p:sp>
      <p:sp>
        <p:nvSpPr>
          <p:cNvPr id="5" name="Text 3"/>
          <p:cNvSpPr/>
          <p:nvPr/>
        </p:nvSpPr>
        <p:spPr>
          <a:xfrm>
            <a:off x="1066800" y="2979421"/>
            <a:ext cx="20602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KB ⊨ O</a:t>
            </a:r>
            <a:endParaRPr lang="en-US" sz="1200" dirty="0"/>
          </a:p>
        </p:txBody>
      </p:sp>
      <p:sp>
        <p:nvSpPr>
          <p:cNvPr id="6" name="Text 4"/>
          <p:cNvSpPr/>
          <p:nvPr/>
        </p:nvSpPr>
        <p:spPr>
          <a:xfrm>
            <a:off x="1066800" y="3294379"/>
            <a:ext cx="2060257"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EEF1F6"/>
                </a:solidFill>
                <a:latin typeface="Space Grotesk" pitchFamily="34" charset="0"/>
                <a:ea typeface="Space Grotesk" pitchFamily="34" charset="-122"/>
                <a:cs typeface="Space Grotesk" pitchFamily="34" charset="-120"/>
              </a:rPr>
              <a:t>Omar</a:t>
            </a:r>
            <a:endParaRPr lang="en-US" sz="2800" dirty="0"/>
          </a:p>
        </p:txBody>
      </p:sp>
      <p:sp>
        <p:nvSpPr>
          <p:cNvPr id="7" name="Text 5"/>
          <p:cNvSpPr/>
          <p:nvPr/>
        </p:nvSpPr>
        <p:spPr>
          <a:xfrm>
            <a:off x="1066800" y="3822700"/>
            <a:ext cx="206025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913A"/>
                </a:solidFill>
                <a:latin typeface="Space Grotesk" pitchFamily="34" charset="0"/>
                <a:ea typeface="Space Grotesk" pitchFamily="34" charset="-122"/>
                <a:cs typeface="Space Grotesk" pitchFamily="34" charset="-120"/>
              </a:rPr>
              <a:t>Took the paper</a:t>
            </a:r>
            <a:endParaRPr lang="en-US" sz="1600" dirty="0"/>
          </a:p>
        </p:txBody>
      </p:sp>
      <p:sp>
        <p:nvSpPr>
          <p:cNvPr id="8" name="Shape 6"/>
          <p:cNvSpPr/>
          <p:nvPr/>
        </p:nvSpPr>
        <p:spPr>
          <a:xfrm>
            <a:off x="3505200" y="2731771"/>
            <a:ext cx="2495550" cy="1643380"/>
          </a:xfrm>
          <a:prstGeom prst="roundRect">
            <a:avLst>
              <a:gd name="adj" fmla="val 5796"/>
            </a:avLst>
          </a:prstGeom>
          <a:solidFill>
            <a:srgbClr val="FFFFFF"/>
          </a:solidFill>
          <a:ln w="12700">
            <a:solidFill>
              <a:srgbClr val="DCD8CC"/>
            </a:solidFill>
            <a:prstDash val="solid"/>
          </a:ln>
        </p:spPr>
      </p:sp>
      <p:sp>
        <p:nvSpPr>
          <p:cNvPr id="9" name="Text 7"/>
          <p:cNvSpPr/>
          <p:nvPr/>
        </p:nvSpPr>
        <p:spPr>
          <a:xfrm>
            <a:off x="3763010" y="2989579"/>
            <a:ext cx="2039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KB ⊨ ¬S</a:t>
            </a:r>
            <a:endParaRPr lang="en-US" sz="1200" dirty="0"/>
          </a:p>
        </p:txBody>
      </p:sp>
      <p:sp>
        <p:nvSpPr>
          <p:cNvPr id="10" name="Text 8"/>
          <p:cNvSpPr/>
          <p:nvPr/>
        </p:nvSpPr>
        <p:spPr>
          <a:xfrm>
            <a:off x="3763010" y="3304542"/>
            <a:ext cx="2039328"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Sara</a:t>
            </a:r>
            <a:endParaRPr lang="en-US" sz="2800" dirty="0"/>
          </a:p>
        </p:txBody>
      </p:sp>
      <p:sp>
        <p:nvSpPr>
          <p:cNvPr id="11" name="Text 9"/>
          <p:cNvSpPr/>
          <p:nvPr/>
        </p:nvSpPr>
        <p:spPr>
          <a:xfrm>
            <a:off x="3763010" y="3832864"/>
            <a:ext cx="2039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80A0"/>
                </a:solidFill>
                <a:latin typeface="Space Grotesk" pitchFamily="34" charset="0"/>
                <a:ea typeface="Space Grotesk" pitchFamily="34" charset="-122"/>
                <a:cs typeface="Space Grotesk" pitchFamily="34" charset="-120"/>
              </a:rPr>
              <a:t>Innocent</a:t>
            </a:r>
            <a:endParaRPr lang="en-US" sz="1600" dirty="0"/>
          </a:p>
        </p:txBody>
      </p:sp>
      <p:sp>
        <p:nvSpPr>
          <p:cNvPr id="12" name="Shape 10"/>
          <p:cNvSpPr/>
          <p:nvPr/>
        </p:nvSpPr>
        <p:spPr>
          <a:xfrm>
            <a:off x="6191250" y="2731771"/>
            <a:ext cx="2495550" cy="1643380"/>
          </a:xfrm>
          <a:prstGeom prst="roundRect">
            <a:avLst>
              <a:gd name="adj" fmla="val 5796"/>
            </a:avLst>
          </a:prstGeom>
          <a:solidFill>
            <a:srgbClr val="FFFFFF"/>
          </a:solidFill>
          <a:ln w="12700">
            <a:solidFill>
              <a:srgbClr val="DCD8CC"/>
            </a:solidFill>
            <a:prstDash val="solid"/>
          </a:ln>
        </p:spPr>
      </p:sp>
      <p:sp>
        <p:nvSpPr>
          <p:cNvPr id="13" name="Text 11"/>
          <p:cNvSpPr/>
          <p:nvPr/>
        </p:nvSpPr>
        <p:spPr>
          <a:xfrm>
            <a:off x="6449060" y="2989579"/>
            <a:ext cx="2039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JetBrains Mono" pitchFamily="49" charset="0"/>
                <a:ea typeface="JetBrains Mono" pitchFamily="49" charset="-122"/>
                <a:cs typeface="JetBrains Mono" pitchFamily="49" charset="-120"/>
              </a:rPr>
              <a:t>KB ⊭ L, KB ⊭ ¬L</a:t>
            </a:r>
            <a:endParaRPr lang="en-US" sz="1200" dirty="0"/>
          </a:p>
        </p:txBody>
      </p:sp>
      <p:sp>
        <p:nvSpPr>
          <p:cNvPr id="14" name="Text 12"/>
          <p:cNvSpPr/>
          <p:nvPr/>
        </p:nvSpPr>
        <p:spPr>
          <a:xfrm>
            <a:off x="6449060" y="3304542"/>
            <a:ext cx="2039328"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Lina</a:t>
            </a:r>
            <a:endParaRPr lang="en-US" sz="2800" dirty="0"/>
          </a:p>
        </p:txBody>
      </p:sp>
      <p:sp>
        <p:nvSpPr>
          <p:cNvPr id="15" name="Text 13"/>
          <p:cNvSpPr/>
          <p:nvPr/>
        </p:nvSpPr>
        <p:spPr>
          <a:xfrm>
            <a:off x="6449060" y="3832864"/>
            <a:ext cx="2039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468"/>
                </a:solidFill>
                <a:latin typeface="Space Grotesk" pitchFamily="34" charset="0"/>
                <a:ea typeface="Space Grotesk" pitchFamily="34" charset="-122"/>
                <a:cs typeface="Space Grotesk" pitchFamily="34" charset="-120"/>
              </a:rPr>
              <a:t>Cannot be proven</a:t>
            </a:r>
            <a:endParaRPr lang="en-US" sz="1600" dirty="0"/>
          </a:p>
        </p:txBody>
      </p:sp>
      <p:sp>
        <p:nvSpPr>
          <p:cNvPr id="16" name="Shape 14"/>
          <p:cNvSpPr/>
          <p:nvPr/>
        </p:nvSpPr>
        <p:spPr>
          <a:xfrm>
            <a:off x="8877300" y="2731771"/>
            <a:ext cx="2495550" cy="1643380"/>
          </a:xfrm>
          <a:prstGeom prst="roundRect">
            <a:avLst>
              <a:gd name="adj" fmla="val 5796"/>
            </a:avLst>
          </a:prstGeom>
          <a:solidFill>
            <a:srgbClr val="FFFFFF"/>
          </a:solidFill>
          <a:ln w="12700">
            <a:solidFill>
              <a:srgbClr val="DCD8CC"/>
            </a:solidFill>
            <a:prstDash val="solid"/>
          </a:ln>
        </p:spPr>
      </p:sp>
      <p:sp>
        <p:nvSpPr>
          <p:cNvPr id="17" name="Text 15"/>
          <p:cNvSpPr/>
          <p:nvPr/>
        </p:nvSpPr>
        <p:spPr>
          <a:xfrm>
            <a:off x="9135110" y="2989579"/>
            <a:ext cx="2039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KB ⊨ ¬F</a:t>
            </a:r>
            <a:endParaRPr lang="en-US" sz="1200" dirty="0"/>
          </a:p>
        </p:txBody>
      </p:sp>
      <p:sp>
        <p:nvSpPr>
          <p:cNvPr id="18" name="Text 16"/>
          <p:cNvSpPr/>
          <p:nvPr/>
        </p:nvSpPr>
        <p:spPr>
          <a:xfrm>
            <a:off x="9135110" y="3304542"/>
            <a:ext cx="2039328"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The door</a:t>
            </a:r>
            <a:endParaRPr lang="en-US" sz="2800" dirty="0"/>
          </a:p>
        </p:txBody>
      </p:sp>
      <p:sp>
        <p:nvSpPr>
          <p:cNvPr id="19" name="Text 17"/>
          <p:cNvSpPr/>
          <p:nvPr/>
        </p:nvSpPr>
        <p:spPr>
          <a:xfrm>
            <a:off x="9135110" y="3832864"/>
            <a:ext cx="2039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80A0"/>
                </a:solidFill>
                <a:latin typeface="Space Grotesk" pitchFamily="34" charset="0"/>
                <a:ea typeface="Space Grotesk" pitchFamily="34" charset="-122"/>
                <a:cs typeface="Space Grotesk" pitchFamily="34" charset="-120"/>
              </a:rPr>
              <a:t>Not forced</a:t>
            </a:r>
            <a:endParaRPr lang="en-US" sz="1600" dirty="0"/>
          </a:p>
        </p:txBody>
      </p:sp>
      <p:sp>
        <p:nvSpPr>
          <p:cNvPr id="20" name="Text 18"/>
          <p:cNvSpPr/>
          <p:nvPr/>
        </p:nvSpPr>
        <p:spPr>
          <a:xfrm>
            <a:off x="812800" y="5476242"/>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468"/>
                </a:solidFill>
                <a:latin typeface="Space Grotesk" pitchFamily="34" charset="0"/>
                <a:ea typeface="Space Grotesk" pitchFamily="34" charset="-122"/>
                <a:cs typeface="Space Grotesk" pitchFamily="34" charset="-120"/>
              </a:rPr>
              <a:t>Every verdict here is a proof, not a guess: each one either reached the empty clause or showed it never can.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POST-MORTEM</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6"/>
                </a:solidFill>
                <a:latin typeface="Space Grotesk" pitchFamily="34" charset="0"/>
                <a:ea typeface="Space Grotesk" pitchFamily="34" charset="-122"/>
                <a:cs typeface="Space Grotesk" pitchFamily="34" charset="-120"/>
              </a:rPr>
              <a:t>What we learned</a:t>
            </a:r>
            <a:endParaRPr lang="en-US" sz="3600" dirty="0"/>
          </a:p>
        </p:txBody>
      </p:sp>
      <p:sp>
        <p:nvSpPr>
          <p:cNvPr id="4" name="Shape 2"/>
          <p:cNvSpPr/>
          <p:nvPr/>
        </p:nvSpPr>
        <p:spPr>
          <a:xfrm>
            <a:off x="812800" y="1935479"/>
            <a:ext cx="5194300" cy="1275080"/>
          </a:xfrm>
          <a:prstGeom prst="roundRect">
            <a:avLst>
              <a:gd name="adj" fmla="val 7968"/>
            </a:avLst>
          </a:prstGeom>
          <a:solidFill>
            <a:srgbClr val="18233A"/>
          </a:solidFill>
          <a:ln/>
        </p:spPr>
      </p:sp>
      <p:sp>
        <p:nvSpPr>
          <p:cNvPr id="5" name="Text 3"/>
          <p:cNvSpPr/>
          <p:nvPr/>
        </p:nvSpPr>
        <p:spPr>
          <a:xfrm>
            <a:off x="1066800" y="216407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Proof by contradiction</a:t>
            </a:r>
            <a:endParaRPr lang="en-US" sz="1600" dirty="0"/>
          </a:p>
        </p:txBody>
      </p:sp>
      <p:sp>
        <p:nvSpPr>
          <p:cNvPr id="6" name="Text 4"/>
          <p:cNvSpPr/>
          <p:nvPr/>
        </p:nvSpPr>
        <p:spPr>
          <a:xfrm>
            <a:off x="1066800" y="2484121"/>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To prove α, add ¬α to the KB. Reaching ( ) means KB ∧ ¬α is impossible, so α must hold.</a:t>
            </a:r>
            <a:endParaRPr lang="en-US" sz="1400" dirty="0"/>
          </a:p>
        </p:txBody>
      </p:sp>
      <p:sp>
        <p:nvSpPr>
          <p:cNvPr id="7" name="Shape 5"/>
          <p:cNvSpPr/>
          <p:nvPr/>
        </p:nvSpPr>
        <p:spPr>
          <a:xfrm>
            <a:off x="6184900" y="1935479"/>
            <a:ext cx="5194300" cy="1275080"/>
          </a:xfrm>
          <a:prstGeom prst="roundRect">
            <a:avLst>
              <a:gd name="adj" fmla="val 7968"/>
            </a:avLst>
          </a:prstGeom>
          <a:solidFill>
            <a:srgbClr val="18233A"/>
          </a:solidFill>
          <a:ln/>
        </p:spPr>
      </p:sp>
      <p:sp>
        <p:nvSpPr>
          <p:cNvPr id="8" name="Text 6"/>
          <p:cNvSpPr/>
          <p:nvPr/>
        </p:nvSpPr>
        <p:spPr>
          <a:xfrm>
            <a:off x="6438900" y="216407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No empty clause, no entailment</a:t>
            </a:r>
            <a:endParaRPr lang="en-US" sz="1600" dirty="0"/>
          </a:p>
        </p:txBody>
      </p:sp>
      <p:sp>
        <p:nvSpPr>
          <p:cNvPr id="9" name="Text 7"/>
          <p:cNvSpPr/>
          <p:nvPr/>
        </p:nvSpPr>
        <p:spPr>
          <a:xfrm>
            <a:off x="6438900" y="2484121"/>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If resolution runs out of new clauses without ( ), KB ∧ ¬α is satisfiable and α is not entailed.</a:t>
            </a:r>
            <a:endParaRPr lang="en-US" sz="1400" dirty="0"/>
          </a:p>
        </p:txBody>
      </p:sp>
      <p:sp>
        <p:nvSpPr>
          <p:cNvPr id="10" name="Shape 8"/>
          <p:cNvSpPr/>
          <p:nvPr/>
        </p:nvSpPr>
        <p:spPr>
          <a:xfrm>
            <a:off x="812800" y="3388364"/>
            <a:ext cx="5194300" cy="1275080"/>
          </a:xfrm>
          <a:prstGeom prst="roundRect">
            <a:avLst>
              <a:gd name="adj" fmla="val 7968"/>
            </a:avLst>
          </a:prstGeom>
          <a:solidFill>
            <a:srgbClr val="18233A"/>
          </a:solidFill>
          <a:ln/>
        </p:spPr>
      </p:sp>
      <p:sp>
        <p:nvSpPr>
          <p:cNvPr id="11" name="Text 9"/>
          <p:cNvSpPr/>
          <p:nvPr/>
        </p:nvSpPr>
        <p:spPr>
          <a:xfrm>
            <a:off x="1066800" y="3616964"/>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One literal per step</a:t>
            </a:r>
            <a:endParaRPr lang="en-US" sz="1600" dirty="0"/>
          </a:p>
        </p:txBody>
      </p:sp>
      <p:sp>
        <p:nvSpPr>
          <p:cNvPr id="12" name="Text 10"/>
          <p:cNvSpPr/>
          <p:nvPr/>
        </p:nvSpPr>
        <p:spPr>
          <a:xfrm>
            <a:off x="1066800" y="3937000"/>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A resolution step cancels exactly one complementary pair. Duplicates are cleaned up with factoring.</a:t>
            </a:r>
            <a:endParaRPr lang="en-US" sz="1400" dirty="0"/>
          </a:p>
        </p:txBody>
      </p:sp>
      <p:sp>
        <p:nvSpPr>
          <p:cNvPr id="13" name="Shape 11"/>
          <p:cNvSpPr/>
          <p:nvPr/>
        </p:nvSpPr>
        <p:spPr>
          <a:xfrm>
            <a:off x="6184900" y="3388364"/>
            <a:ext cx="5194300" cy="1275080"/>
          </a:xfrm>
          <a:prstGeom prst="roundRect">
            <a:avLst>
              <a:gd name="adj" fmla="val 7968"/>
            </a:avLst>
          </a:prstGeom>
          <a:solidFill>
            <a:srgbClr val="18233A"/>
          </a:solidFill>
          <a:ln/>
        </p:spPr>
      </p:sp>
      <p:sp>
        <p:nvSpPr>
          <p:cNvPr id="14" name="Text 12"/>
          <p:cNvSpPr/>
          <p:nvPr/>
        </p:nvSpPr>
        <p:spPr>
          <a:xfrm>
            <a:off x="6438900" y="3616964"/>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“Unknown” is a real answer</a:t>
            </a:r>
            <a:endParaRPr lang="en-US" sz="1600" dirty="0"/>
          </a:p>
        </p:txBody>
      </p:sp>
      <p:sp>
        <p:nvSpPr>
          <p:cNvPr id="15" name="Text 13"/>
          <p:cNvSpPr/>
          <p:nvPr/>
        </p:nvSpPr>
        <p:spPr>
          <a:xfrm>
            <a:off x="6438900" y="3937000"/>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Some facts are not decided by the evidence. Failing to prove guilt does not prove innocence.</a:t>
            </a:r>
            <a:endParaRPr lang="en-US" sz="14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8"/>
                </a:solidFill>
                <a:latin typeface="JetBrains Mono" pitchFamily="49" charset="0"/>
                <a:ea typeface="JetBrains Mono" pitchFamily="49" charset="-122"/>
                <a:cs typeface="JetBrains Mono" pitchFamily="49" charset="-120"/>
              </a:rPr>
              <a:t>Ali Ahmed · ID: S24109004 · Thank you</a:t>
            </a:r>
            <a:endParaRPr lang="en-US" sz="1200" dirty="0"/>
          </a:p>
        </p:txBody>
      </p:sp>
    </p:spTree>
  </p:cSld>
  <p:clrMapOvr>
    <a:masterClrMapping/>
  </p:clrMapOvr>
</p:sld>
</file>

<file path=ppt/theme/theme1.xml><?xml version="1.0" encoding="utf-8"?>
<a:theme xmlns:a="http://schemas.openxmlformats.org/drawingml/2006/main" name="Resolution Hackathon — Team Tigers">
  <a:themeElements>
    <a:clrScheme name="Resolution Hackathon — Team Tigers">
      <a:dk1>
        <a:srgbClr val="1B2333"/>
      </a:dk1>
      <a:lt1>
        <a:srgbClr val="F3F1EA"/>
      </a:lt1>
      <a:dk2>
        <a:srgbClr val="515761"/>
      </a:dk2>
      <a:lt2>
        <a:srgbClr val="DDDCD8"/>
      </a:lt2>
      <a:accent1>
        <a:srgbClr val="E8913A"/>
      </a:accent1>
      <a:accent2>
        <a:srgbClr val="1580A0"/>
      </a:accent2>
      <a:accent3>
        <a:srgbClr val="1FB6C9"/>
      </a:accent3>
      <a:accent4>
        <a:srgbClr val="A85A14"/>
      </a:accent4>
      <a:accent5>
        <a:srgbClr val="F6E3CF"/>
      </a:accent5>
      <a:accent6>
        <a:srgbClr val="1A1208"/>
      </a:accent6>
      <a:hlink>
        <a:srgbClr val="0563C1"/>
      </a:hlink>
      <a:folHlink>
        <a:srgbClr val="954F72"/>
      </a:folHlink>
    </a:clrScheme>
    <a:fontScheme name="Resolution Hackathon — Team Tiger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Resolution Hackathon — Team Tigers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2026-10-21T07:31:11Z</dcterms:created>
  <dcterms:modified xsi:type="dcterms:W3CDTF">2026-10-21T07:31:11Z</dcterms:modified>
</cp:coreProperties>
</file>